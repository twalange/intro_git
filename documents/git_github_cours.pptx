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1" r:id="rId24"/>
    <p:sldId id="282" r:id="rId25"/>
    <p:sldId id="283" r:id="rId26"/>
    <p:sldId id="280" r:id="rId27"/>
    <p:sldId id="284" r:id="rId28"/>
    <p:sldId id="285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5133"/>
    <a:srgbClr val="0969DA"/>
    <a:srgbClr val="7F7F7F"/>
    <a:srgbClr val="9196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2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4153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ENSD</a:t>
            </a:r>
            <a:endParaRPr lang="en-US" sz="1400" dirty="0">
              <a:solidFill>
                <a:srgbClr val="F05133"/>
              </a:solidFill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à Git et GitHub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Versionner, collaborer et publier un projet d'analyse de données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475488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4754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init</a:t>
            </a:r>
            <a:endParaRPr lang="en-US" sz="1300" dirty="0">
              <a:solidFill>
                <a:srgbClr val="F05133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3108960" y="475488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08960" y="4754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</a:t>
            </a:r>
            <a:endParaRPr lang="en-US" sz="1300" dirty="0">
              <a:solidFill>
                <a:srgbClr val="F05133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5577840" y="475488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577840" y="4754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</a:t>
            </a:r>
            <a:endParaRPr lang="en-US" sz="1300" dirty="0">
              <a:solidFill>
                <a:srgbClr val="F05133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DU COURS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étapes, du concept à la pratique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82880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48840"/>
            <a:ext cx="731520" cy="731520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20299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que Git ?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24505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Histoire, principes, avantages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2148840"/>
            <a:ext cx="731520" cy="731520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922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20299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Organiser un projet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06640" y="24505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de dossiers types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52044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3840480"/>
            <a:ext cx="731520" cy="731520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3840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372160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local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828800" y="41422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Init, commit, statuts, stash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352044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2240" y="3840480"/>
            <a:ext cx="731520" cy="731520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92240" y="3840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406640" y="372160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 et fusion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406640" y="41422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Diverger, fusionner, résoudre les conflits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21208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4400" y="5532120"/>
            <a:ext cx="731520" cy="731520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14400" y="5532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1828800" y="5413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distant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828800" y="583387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PAT, push/pull, Pull Requests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17920" y="521208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92240" y="5532120"/>
            <a:ext cx="731520" cy="731520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92240" y="5532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406640" y="5413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RStudio &amp; JupyterLab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406640" y="583387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graphique de Git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2103120" cy="2103120"/>
          </a:xfrm>
          <a:prstGeom prst="ellipse">
            <a:avLst/>
          </a:prstGeom>
          <a:solidFill>
            <a:srgbClr val="161B22"/>
          </a:solidFill>
          <a:ln w="25400">
            <a:solidFill>
              <a:srgbClr val="F051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3383280" y="265176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Qu'est-ce que Git ?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36118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Origines, principes et avantages d'un outil devenu incontournable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HISTOIRE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courte histoire de Git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2743200"/>
            <a:ext cx="10607040" cy="0"/>
          </a:xfrm>
          <a:prstGeom prst="line">
            <a:avLst/>
          </a:prstGeom>
          <a:noFill/>
          <a:ln w="25400">
            <a:solidFill>
              <a:srgbClr val="D0D7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65376" y="2642616"/>
            <a:ext cx="201168" cy="201168"/>
          </a:xfrm>
          <a:prstGeom prst="ellipse">
            <a:avLst/>
          </a:prstGeom>
          <a:solidFill>
            <a:srgbClr val="F0513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17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Naissance de Linux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401568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projet libre, développé par une communauté mondiale.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17136" y="2642616"/>
            <a:ext cx="201168" cy="201168"/>
          </a:xfrm>
          <a:prstGeom prst="ellipse">
            <a:avLst/>
          </a:prstGeom>
          <a:solidFill>
            <a:srgbClr val="F0513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8328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3017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BitKeeper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3401568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noyau Linux adopte un outil de gestion de versions distribué.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168896" y="2642616"/>
            <a:ext cx="201168" cy="201168"/>
          </a:xfrm>
          <a:prstGeom prst="ellipse">
            <a:avLst/>
          </a:prstGeom>
          <a:solidFill>
            <a:srgbClr val="F0513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3504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2005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3017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Rupture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401568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L'usage gratuit de BitKeeper est retiré à la communauté.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820656" y="2642616"/>
            <a:ext cx="201168" cy="201168"/>
          </a:xfrm>
          <a:prstGeom prst="ellipse">
            <a:avLst/>
          </a:prstGeom>
          <a:solidFill>
            <a:srgbClr val="F0513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2005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0" y="3017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Naissance de Git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0" y="3401568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Linus Torvalds crée Git : rapide, distribué, taillé pour de gros projets.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enquête Stack Overflow (2022) indiquait que Git était utilisé par 94 % des répondants utilisant un système de gestion de versions.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MOTIVATION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problème que Git résout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920240"/>
            <a:ext cx="4937760" cy="3931920"/>
          </a:xfrm>
          <a:prstGeom prst="roundRect">
            <a:avLst>
              <a:gd name="adj" fmla="val 1860"/>
            </a:avLst>
          </a:prstGeom>
          <a:solidFill>
            <a:srgbClr val="FFF1F0"/>
          </a:solidFill>
          <a:ln w="12700">
            <a:solidFill>
              <a:srgbClr val="FFCCC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1488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F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Git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60120" y="2606040"/>
            <a:ext cx="4297680" cy="13716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88720" y="2770632"/>
            <a:ext cx="38404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questionnaire_v12.xlsx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questionnaire_v13_finale.xlsx</a:t>
            </a:r>
          </a:p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questionnaire_v14.xlsx</a:t>
            </a:r>
          </a:p>
          <a:p>
            <a:pPr marL="0" indent="0">
              <a:lnSpc>
                <a:spcPct val="125000"/>
              </a:lnSpc>
              <a:buNone/>
            </a:pPr>
            <a:endParaRPr lang="en-US" sz="1400" dirty="0">
              <a:solidFill>
                <a:srgbClr val="C9D1D9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lnSpc>
                <a:spcPct val="125000"/>
              </a:lnSpc>
              <a:buNone/>
            </a:pP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4160520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 est la dernière version ?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 modifié quoi, et pourquoi ?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revenir en </a:t>
            </a:r>
            <a:r>
              <a:rPr lang="en-US" sz="1300" dirty="0" err="1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arrière</a:t>
            </a:r>
            <a:r>
              <a:rPr lang="en-US" sz="1300" dirty="0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?</a:t>
            </a:r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</a:t>
            </a:r>
            <a:r>
              <a:rPr lang="en-US" sz="1300" dirty="0" err="1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</a:t>
            </a:r>
            <a:r>
              <a:rPr lang="en-US" sz="1300" dirty="0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il </a:t>
            </a:r>
            <a:r>
              <a:rPr lang="en-US" sz="1300" dirty="0" err="1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y’a</a:t>
            </a:r>
            <a:r>
              <a:rPr lang="en-US" sz="1300" dirty="0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16x le </a:t>
            </a:r>
            <a:r>
              <a:rPr lang="en-US" sz="1300" dirty="0" err="1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</a:t>
            </a:r>
            <a:r>
              <a:rPr lang="en-US" sz="1300" dirty="0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</a:t>
            </a:r>
            <a:r>
              <a:rPr lang="en-US" sz="1300" dirty="0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dans le </a:t>
            </a:r>
            <a:r>
              <a:rPr lang="en-US" sz="1300" dirty="0" err="1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300" dirty="0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???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89320" y="1920240"/>
            <a:ext cx="4937760" cy="3931920"/>
          </a:xfrm>
          <a:prstGeom prst="roundRect">
            <a:avLst>
              <a:gd name="adj" fmla="val 1860"/>
            </a:avLst>
          </a:prstGeom>
          <a:solidFill>
            <a:srgbClr val="F0F9F2"/>
          </a:solidFill>
          <a:ln w="12700">
            <a:solidFill>
              <a:srgbClr val="BEE6C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21488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Git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309360" y="2606040"/>
            <a:ext cx="4297680" cy="13716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770632"/>
            <a:ext cx="38404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 1: Création du projet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 2: Ajout du nettoyage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 3: Ajout de l'analyse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4160520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historique unique, daté et </a:t>
            </a:r>
            <a:r>
              <a:rPr lang="en-US" sz="1300" dirty="0" err="1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attribué</a:t>
            </a:r>
            <a:r>
              <a:rPr lang="en-US" sz="1300" dirty="0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possible à n'importe </a:t>
            </a:r>
            <a:r>
              <a:rPr lang="en-US" sz="1300" dirty="0" err="1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</a:t>
            </a:r>
            <a:r>
              <a:rPr lang="en-US" sz="1300" dirty="0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état.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 complète du </a:t>
            </a:r>
            <a:r>
              <a:rPr lang="en-US" sz="1300" dirty="0" err="1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300" dirty="0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</a:t>
            </a:r>
            <a:r>
              <a:rPr lang="en-US" sz="1300" dirty="0" err="1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</a:t>
            </a:r>
            <a:r>
              <a:rPr lang="en-US" sz="1300" dirty="0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restent</a:t>
            </a:r>
            <a:r>
              <a:rPr lang="en-US" sz="1300" dirty="0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uniques</a:t>
            </a:r>
            <a:r>
              <a:rPr lang="en-US" sz="1300" dirty="0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PRINCIPE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principe de base : </a:t>
            </a:r>
            <a:r>
              <a:rPr lang="en-US" sz="3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commit</a:t>
            </a:r>
            <a:endParaRPr lang="en-US" sz="3000" dirty="0">
              <a:solidFill>
                <a:srgbClr val="F05133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769468" y="283464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9468" y="283464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modifie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fichiers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110332" y="3520440"/>
            <a:ext cx="393192" cy="0"/>
          </a:xfrm>
          <a:prstGeom prst="line">
            <a:avLst/>
          </a:prstGeom>
          <a:noFill/>
          <a:ln w="25400">
            <a:solidFill>
              <a:srgbClr val="F0513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558388" y="283464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58388" y="283464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sélectionne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changements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899252" y="3520440"/>
            <a:ext cx="393192" cy="0"/>
          </a:xfrm>
          <a:prstGeom prst="line">
            <a:avLst/>
          </a:prstGeom>
          <a:noFill/>
          <a:ln w="25400">
            <a:solidFill>
              <a:srgbClr val="F0513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347308" y="283464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47308" y="283464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crée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commit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688172" y="3520440"/>
            <a:ext cx="393192" cy="0"/>
          </a:xfrm>
          <a:prstGeom prst="line">
            <a:avLst/>
          </a:prstGeom>
          <a:noFill/>
          <a:ln w="25400">
            <a:solidFill>
              <a:srgbClr val="F0513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136228" y="283464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0D1117"/>
          </a:solidFill>
          <a:ln w="19050">
            <a:solidFill>
              <a:srgbClr val="0D111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36228" y="283464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enregistre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nouvelle version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9377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commit est relié au précédent : Git peut ainsi reconstituer tout l'historique du projet.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8">
            <a:extLst>
              <a:ext uri="{FF2B5EF4-FFF2-40B4-BE49-F238E27FC236}">
                <a16:creationId xmlns:a16="http://schemas.microsoft.com/office/drawing/2014/main" id="{85C1EAAB-7D73-8EB8-F322-053CF4F90824}"/>
              </a:ext>
            </a:extLst>
          </p:cNvPr>
          <p:cNvSpPr/>
          <p:nvPr/>
        </p:nvSpPr>
        <p:spPr>
          <a:xfrm>
            <a:off x="6184061" y="5203281"/>
            <a:ext cx="1314666" cy="36576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6C75632C-988A-7211-8CEB-2857E5E2319A}"/>
              </a:ext>
            </a:extLst>
          </p:cNvPr>
          <p:cNvSpPr/>
          <p:nvPr/>
        </p:nvSpPr>
        <p:spPr>
          <a:xfrm>
            <a:off x="4206240" y="4137661"/>
            <a:ext cx="1314666" cy="36576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DISTINCTION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n'est pas GitHub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965960"/>
            <a:ext cx="4937760" cy="1554480"/>
          </a:xfrm>
          <a:prstGeom prst="roundRect">
            <a:avLst>
              <a:gd name="adj" fmla="val 4706"/>
            </a:avLst>
          </a:prstGeom>
          <a:solidFill>
            <a:srgbClr val="0D111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1488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56032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logiciel qui gère l'historique des versions d'un projet, en local.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89320" y="1965960"/>
            <a:ext cx="4937760" cy="1554480"/>
          </a:xfrm>
          <a:prstGeom prst="roundRect">
            <a:avLst>
              <a:gd name="adj" fmla="val 4706"/>
            </a:avLst>
          </a:prstGeom>
          <a:solidFill>
            <a:srgbClr val="F0513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0" y="21488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(ou GitLab)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56032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A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service en ligne pour héberger des dépôts Git à distance et collaborer.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11480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1148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Ordinateur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(dépôt local)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680960" y="411480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80960" y="41148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(dépôt distant)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06240" y="4617720"/>
            <a:ext cx="3383280" cy="0"/>
          </a:xfrm>
          <a:prstGeom prst="line">
            <a:avLst/>
          </a:prstGeom>
          <a:noFill/>
          <a:ln w="25400">
            <a:solidFill>
              <a:srgbClr val="F0513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4195026" y="4183381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6320143" y="5249001"/>
            <a:ext cx="10425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969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pull</a:t>
            </a:r>
            <a:endParaRPr lang="en-US" sz="1200" dirty="0">
              <a:solidFill>
                <a:srgbClr val="0969DA"/>
              </a:solidFill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20" name="Shape 13">
            <a:extLst>
              <a:ext uri="{FF2B5EF4-FFF2-40B4-BE49-F238E27FC236}">
                <a16:creationId xmlns:a16="http://schemas.microsoft.com/office/drawing/2014/main" id="{20F119D8-F16F-5D19-753C-591F164E18B5}"/>
              </a:ext>
            </a:extLst>
          </p:cNvPr>
          <p:cNvSpPr/>
          <p:nvPr/>
        </p:nvSpPr>
        <p:spPr>
          <a:xfrm flipH="1" flipV="1">
            <a:off x="4206240" y="5063702"/>
            <a:ext cx="338328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2103120" cy="2103120"/>
          </a:xfrm>
          <a:prstGeom prst="ellipse">
            <a:avLst/>
          </a:prstGeom>
          <a:solidFill>
            <a:srgbClr val="161B22"/>
          </a:solidFill>
          <a:ln w="25400">
            <a:solidFill>
              <a:srgbClr val="F051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3383280" y="265176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Organiser un projet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36118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structure cohérente, prévisible et compréhensible par d'autres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STRUCTURE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arborescence type pour un projet en 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2975250" y="1725282"/>
            <a:ext cx="5669280" cy="4124806"/>
          </a:xfrm>
          <a:prstGeom prst="roundRect">
            <a:avLst>
              <a:gd name="adj" fmla="val 1304"/>
            </a:avLst>
          </a:prstGeom>
          <a:solidFill>
            <a:srgbClr val="161B2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154680" y="1842946"/>
            <a:ext cx="5212080" cy="3877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mon-projet/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README.md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.gitignore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.Rprofile / .Rhistory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raw/       # jamais modifié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clean/     # données transformées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scripts/       # nettoyage, recodage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notebooks/     # code + texte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results/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figures/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tables/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docs/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Text 17">
            <a:extLst>
              <a:ext uri="{FF2B5EF4-FFF2-40B4-BE49-F238E27FC236}">
                <a16:creationId xmlns:a16="http://schemas.microsoft.com/office/drawing/2014/main" id="{BCCE45CC-7545-D4B5-8F53-6DB20F41287E}"/>
              </a:ext>
            </a:extLst>
          </p:cNvPr>
          <p:cNvSpPr txBox="1"/>
          <p:nvPr/>
        </p:nvSpPr>
        <p:spPr>
          <a:xfrm>
            <a:off x="594360" y="5968099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Ceci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il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n’y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pas de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absolues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Gardez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organization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claire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intuitive.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2103120" cy="2103120"/>
          </a:xfrm>
          <a:prstGeom prst="ellipse">
            <a:avLst/>
          </a:prstGeom>
          <a:solidFill>
            <a:srgbClr val="161B22"/>
          </a:solidFill>
          <a:ln w="25400">
            <a:solidFill>
              <a:srgbClr val="F051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3383280" y="265176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dépôt Git et le cycle local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36118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Installer, initialiser, commiter : le travail au quotidien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MISE EN ROUTE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Installer et configurer Git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965960"/>
            <a:ext cx="548640" cy="548640"/>
          </a:xfrm>
          <a:prstGeom prst="ellipse">
            <a:avLst/>
          </a:prstGeom>
          <a:solidFill>
            <a:srgbClr val="F0513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19476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3134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git-scm.com/install ou conda install git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926080"/>
            <a:ext cx="548640" cy="548640"/>
          </a:xfrm>
          <a:prstGeom prst="ellipse">
            <a:avLst/>
          </a:prstGeom>
          <a:solidFill>
            <a:srgbClr val="F0513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29077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--version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886200"/>
            <a:ext cx="548640" cy="548640"/>
          </a:xfrm>
          <a:prstGeom prst="ellipse">
            <a:avLst/>
          </a:prstGeom>
          <a:solidFill>
            <a:srgbClr val="F0513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38679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Configurer son identité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42336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voir ci-dessous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309360" y="1965960"/>
            <a:ext cx="5120640" cy="2926080"/>
          </a:xfrm>
          <a:prstGeom prst="roundRect">
            <a:avLst>
              <a:gd name="adj" fmla="val 1875"/>
            </a:avLst>
          </a:prstGeom>
          <a:solidFill>
            <a:srgbClr val="161B2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37960" y="2130552"/>
            <a:ext cx="4663440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user.name "Prénom Nom"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user.email "email@example.com"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init.defaultBranch "main"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3035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--global applique cette configuration à tous les dépôts de l'ordinateur.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21" name="Text 4">
            <a:extLst>
              <a:ext uri="{FF2B5EF4-FFF2-40B4-BE49-F238E27FC236}">
                <a16:creationId xmlns:a16="http://schemas.microsoft.com/office/drawing/2014/main" id="{82BC380B-2662-D8AF-4263-F210FB17516A}"/>
              </a:ext>
            </a:extLst>
          </p:cNvPr>
          <p:cNvSpPr txBox="1"/>
          <p:nvPr/>
        </p:nvSpPr>
        <p:spPr>
          <a:xfrm>
            <a:off x="64008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9C62D887-F780-130D-F4E0-84F5BE3EE196}"/>
              </a:ext>
            </a:extLst>
          </p:cNvPr>
          <p:cNvSpPr txBox="1"/>
          <p:nvPr/>
        </p:nvSpPr>
        <p:spPr>
          <a:xfrm>
            <a:off x="64008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23" name="Text 12">
            <a:extLst>
              <a:ext uri="{FF2B5EF4-FFF2-40B4-BE49-F238E27FC236}">
                <a16:creationId xmlns:a16="http://schemas.microsoft.com/office/drawing/2014/main" id="{845E98AB-EF99-3BCF-20B8-77E40D59E5EA}"/>
              </a:ext>
            </a:extLst>
          </p:cNvPr>
          <p:cNvSpPr txBox="1"/>
          <p:nvPr/>
        </p:nvSpPr>
        <p:spPr>
          <a:xfrm>
            <a:off x="640080" y="3886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INITIALISATION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init : créer un dépôt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708085" y="3083772"/>
            <a:ext cx="4114800" cy="64008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36685" y="32483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init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102525" y="3403812"/>
            <a:ext cx="1466203" cy="0"/>
          </a:xfrm>
          <a:prstGeom prst="line">
            <a:avLst/>
          </a:prstGeom>
          <a:noFill/>
          <a:ln w="25400">
            <a:solidFill>
              <a:srgbClr val="F0513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933895" y="2214229"/>
            <a:ext cx="4114800" cy="2377440"/>
          </a:xfrm>
          <a:prstGeom prst="roundRect">
            <a:avLst>
              <a:gd name="adj" fmla="val 2308"/>
            </a:avLst>
          </a:prstGeom>
          <a:solidFill>
            <a:srgbClr val="161B2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62495" y="2378821"/>
            <a:ext cx="365760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mon-projet/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.git/      ← nouveau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notebooks/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README.md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12" name="Text 17">
            <a:extLst>
              <a:ext uri="{FF2B5EF4-FFF2-40B4-BE49-F238E27FC236}">
                <a16:creationId xmlns:a16="http://schemas.microsoft.com/office/drawing/2014/main" id="{E4C811FE-15E2-ED3E-827A-967AA4F0224C}"/>
              </a:ext>
            </a:extLst>
          </p:cNvPr>
          <p:cNvSpPr txBox="1"/>
          <p:nvPr/>
        </p:nvSpPr>
        <p:spPr>
          <a:xfrm>
            <a:off x="640080" y="541773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/!\ Ne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modifiez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jamais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manuellement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contenu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 dossier .git/.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BONNES PRATIQUES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README.md et .gitignore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965960"/>
            <a:ext cx="5029200" cy="3600666"/>
          </a:xfrm>
          <a:prstGeom prst="roundRect">
            <a:avLst>
              <a:gd name="adj" fmla="val 1860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600" dirty="0">
              <a:solidFill>
                <a:schemeClr val="accent2"/>
              </a:solidFill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914400" y="2697480"/>
            <a:ext cx="4480560" cy="1891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point d'entrée du projet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sujet et la question de recherche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 </a:t>
            </a:r>
            <a:r>
              <a:rPr lang="en-US" sz="1350" dirty="0" err="1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utilisées</a:t>
            </a:r>
            <a:endParaRPr lang="en-US" sz="1350" dirty="0">
              <a:solidFill>
                <a:srgbClr val="24292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50" dirty="0" err="1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L'organisation</a:t>
            </a:r>
            <a:r>
              <a:rPr lang="en-US" sz="13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 </a:t>
            </a:r>
            <a:r>
              <a:rPr lang="en-US" sz="1350" dirty="0" err="1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reproduire les résultats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1965960"/>
            <a:ext cx="5029200" cy="3600666"/>
          </a:xfrm>
          <a:prstGeom prst="roundRect">
            <a:avLst>
              <a:gd name="adj" fmla="val 1860"/>
            </a:avLst>
          </a:prstGeom>
          <a:solidFill>
            <a:srgbClr val="0D111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.gitignore</a:t>
            </a:r>
            <a:endParaRPr lang="en-US" sz="1600" dirty="0">
              <a:solidFill>
                <a:schemeClr val="accent2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6583680" y="2651760"/>
            <a:ext cx="4480560" cy="1737360"/>
          </a:xfrm>
          <a:prstGeom prst="roundRect">
            <a:avLst>
              <a:gd name="adj" fmla="val 3158"/>
            </a:avLst>
          </a:prstGeom>
          <a:solidFill>
            <a:srgbClr val="01040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12280" y="2816352"/>
            <a:ext cx="402336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*.tmp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.Rhistory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4377906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/!\ </a:t>
            </a:r>
            <a:r>
              <a:rPr lang="en-US" sz="1200" dirty="0" err="1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Retirer</a:t>
            </a: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 fichier déjà commité du .gitignore ne l'efface pas de l'historique.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LE COMMIT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états d'un fichier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769468" y="2286000"/>
            <a:ext cx="2286000" cy="1188720"/>
          </a:xfrm>
          <a:prstGeom prst="roundRect">
            <a:avLst>
              <a:gd name="adj" fmla="val 7692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9468" y="24505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Untracked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69468" y="290779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 suivi par Git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10332" y="2880360"/>
            <a:ext cx="393192" cy="0"/>
          </a:xfrm>
          <a:prstGeom prst="line">
            <a:avLst/>
          </a:prstGeom>
          <a:noFill/>
          <a:ln w="25400">
            <a:solidFill>
              <a:srgbClr val="F0513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558388" y="2286000"/>
            <a:ext cx="2286000" cy="1188720"/>
          </a:xfrm>
          <a:prstGeom prst="roundRect">
            <a:avLst>
              <a:gd name="adj" fmla="val 7692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58388" y="24505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3558388" y="290779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899252" y="2880360"/>
            <a:ext cx="393192" cy="0"/>
          </a:xfrm>
          <a:prstGeom prst="line">
            <a:avLst/>
          </a:prstGeom>
          <a:noFill/>
          <a:ln w="25400">
            <a:solidFill>
              <a:srgbClr val="F0513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347308" y="2286000"/>
            <a:ext cx="2286000" cy="1188720"/>
          </a:xfrm>
          <a:prstGeom prst="roundRect">
            <a:avLst>
              <a:gd name="adj" fmla="val 7692"/>
            </a:avLst>
          </a:prstGeom>
          <a:solidFill>
            <a:srgbClr val="F05133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47308" y="24505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347308" y="290779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AF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688172" y="2880360"/>
            <a:ext cx="393192" cy="0"/>
          </a:xfrm>
          <a:prstGeom prst="line">
            <a:avLst/>
          </a:prstGeom>
          <a:noFill/>
          <a:ln w="25400">
            <a:solidFill>
              <a:srgbClr val="F0513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136228" y="2286000"/>
            <a:ext cx="2286000" cy="1188720"/>
          </a:xfrm>
          <a:prstGeom prst="roundRect">
            <a:avLst>
              <a:gd name="adj" fmla="val 7692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36228" y="24505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136228" y="290779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après édition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912468" y="3775782"/>
            <a:ext cx="7680960" cy="1920240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141068" y="3940374"/>
            <a:ext cx="72237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                                 # untracked → staged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"Initialisation du projet"  # staged → committed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                             # affiche l'état de chaque fichier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HABITUDE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cycle de travail quotidien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85820" y="2216989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347308" y="23774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136228" y="221742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912468" y="3931920"/>
            <a:ext cx="8366760" cy="0"/>
          </a:xfrm>
          <a:prstGeom prst="line">
            <a:avLst/>
          </a:prstGeom>
          <a:noFill/>
          <a:ln w="19050">
            <a:solidFill>
              <a:srgbClr val="57606A"/>
            </a:solidFill>
            <a:prstDash val="dash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806501" y="4069080"/>
            <a:ext cx="10652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recommence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66" name="Shape 11">
            <a:extLst>
              <a:ext uri="{FF2B5EF4-FFF2-40B4-BE49-F238E27FC236}">
                <a16:creationId xmlns:a16="http://schemas.microsoft.com/office/drawing/2014/main" id="{62BA64AF-DB9A-C4A9-DF8A-8617DFE9912E}"/>
              </a:ext>
            </a:extLst>
          </p:cNvPr>
          <p:cNvSpPr/>
          <p:nvPr/>
        </p:nvSpPr>
        <p:spPr>
          <a:xfrm>
            <a:off x="9023498" y="2055137"/>
            <a:ext cx="2286000" cy="1188720"/>
          </a:xfrm>
          <a:prstGeom prst="roundRect">
            <a:avLst>
              <a:gd name="adj" fmla="val 7692"/>
            </a:avLst>
          </a:prstGeom>
          <a:solidFill>
            <a:srgbClr val="F05133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67" name="Shape 15">
            <a:extLst>
              <a:ext uri="{FF2B5EF4-FFF2-40B4-BE49-F238E27FC236}">
                <a16:creationId xmlns:a16="http://schemas.microsoft.com/office/drawing/2014/main" id="{220E5332-65E6-095C-0646-5749E6082F62}"/>
              </a:ext>
            </a:extLst>
          </p:cNvPr>
          <p:cNvSpPr/>
          <p:nvPr/>
        </p:nvSpPr>
        <p:spPr>
          <a:xfrm>
            <a:off x="6216209" y="2055137"/>
            <a:ext cx="2286000" cy="1188720"/>
          </a:xfrm>
          <a:prstGeom prst="roundRect">
            <a:avLst>
              <a:gd name="adj" fmla="val 7692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68" name="Shape 3">
            <a:extLst>
              <a:ext uri="{FF2B5EF4-FFF2-40B4-BE49-F238E27FC236}">
                <a16:creationId xmlns:a16="http://schemas.microsoft.com/office/drawing/2014/main" id="{86B9D37B-0969-D4C2-49EF-BCEB660A097B}"/>
              </a:ext>
            </a:extLst>
          </p:cNvPr>
          <p:cNvSpPr/>
          <p:nvPr/>
        </p:nvSpPr>
        <p:spPr>
          <a:xfrm>
            <a:off x="609905" y="2063894"/>
            <a:ext cx="2286000" cy="1188720"/>
          </a:xfrm>
          <a:prstGeom prst="roundRect">
            <a:avLst>
              <a:gd name="adj" fmla="val 7692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69" name="Text 4">
            <a:extLst>
              <a:ext uri="{FF2B5EF4-FFF2-40B4-BE49-F238E27FC236}">
                <a16:creationId xmlns:a16="http://schemas.microsoft.com/office/drawing/2014/main" id="{7A53B2D4-2018-BB31-4B3F-1A3C1ABAE335}"/>
              </a:ext>
            </a:extLst>
          </p:cNvPr>
          <p:cNvSpPr txBox="1"/>
          <p:nvPr/>
        </p:nvSpPr>
        <p:spPr>
          <a:xfrm>
            <a:off x="579730" y="2466617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 err="1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Travailler</a:t>
            </a:r>
            <a:r>
              <a:rPr lang="en-US" sz="14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 </a:t>
            </a:r>
            <a:r>
              <a:rPr lang="en-US" sz="1450" b="1" dirty="0" err="1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</a:t>
            </a:r>
            <a:r>
              <a:rPr lang="en-US" sz="14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dirty="0" err="1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</a:t>
            </a:r>
            <a:endParaRPr lang="en-US" sz="1450" dirty="0"/>
          </a:p>
        </p:txBody>
      </p:sp>
      <p:sp>
        <p:nvSpPr>
          <p:cNvPr id="70" name="Shape 6">
            <a:extLst>
              <a:ext uri="{FF2B5EF4-FFF2-40B4-BE49-F238E27FC236}">
                <a16:creationId xmlns:a16="http://schemas.microsoft.com/office/drawing/2014/main" id="{EDDC2808-A3C1-5634-B806-A859E1A44B84}"/>
              </a:ext>
            </a:extLst>
          </p:cNvPr>
          <p:cNvSpPr/>
          <p:nvPr/>
        </p:nvSpPr>
        <p:spPr>
          <a:xfrm>
            <a:off x="2950769" y="2658254"/>
            <a:ext cx="393192" cy="0"/>
          </a:xfrm>
          <a:prstGeom prst="line">
            <a:avLst/>
          </a:prstGeom>
          <a:noFill/>
          <a:ln w="25400">
            <a:solidFill>
              <a:srgbClr val="F05133"/>
            </a:solidFill>
            <a:prstDash val="solid"/>
            <a:tailEnd type="triangle"/>
          </a:ln>
        </p:spPr>
      </p:sp>
      <p:sp>
        <p:nvSpPr>
          <p:cNvPr id="71" name="Shape 7">
            <a:extLst>
              <a:ext uri="{FF2B5EF4-FFF2-40B4-BE49-F238E27FC236}">
                <a16:creationId xmlns:a16="http://schemas.microsoft.com/office/drawing/2014/main" id="{5045A8F3-6FF0-8BCA-AFC8-B3002EFDBEB8}"/>
              </a:ext>
            </a:extLst>
          </p:cNvPr>
          <p:cNvSpPr/>
          <p:nvPr/>
        </p:nvSpPr>
        <p:spPr>
          <a:xfrm>
            <a:off x="3398825" y="2063894"/>
            <a:ext cx="2286000" cy="1188720"/>
          </a:xfrm>
          <a:prstGeom prst="roundRect">
            <a:avLst>
              <a:gd name="adj" fmla="val 7692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72" name="Text 8">
            <a:extLst>
              <a:ext uri="{FF2B5EF4-FFF2-40B4-BE49-F238E27FC236}">
                <a16:creationId xmlns:a16="http://schemas.microsoft.com/office/drawing/2014/main" id="{7392E47F-C56B-B8EC-C47F-4B0AC15E0B3E}"/>
              </a:ext>
            </a:extLst>
          </p:cNvPr>
          <p:cNvSpPr txBox="1"/>
          <p:nvPr/>
        </p:nvSpPr>
        <p:spPr>
          <a:xfrm>
            <a:off x="3398825" y="222848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les </a:t>
            </a:r>
            <a:r>
              <a:rPr lang="en-US" sz="1450" b="1" dirty="0" err="1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</a:t>
            </a:r>
            <a:endParaRPr lang="en-US" sz="1450" dirty="0"/>
          </a:p>
        </p:txBody>
      </p:sp>
      <p:sp>
        <p:nvSpPr>
          <p:cNvPr id="73" name="Text 9">
            <a:extLst>
              <a:ext uri="{FF2B5EF4-FFF2-40B4-BE49-F238E27FC236}">
                <a16:creationId xmlns:a16="http://schemas.microsoft.com/office/drawing/2014/main" id="{28B85CA0-32C9-F800-1C25-D09C9460BE9F}"/>
              </a:ext>
            </a:extLst>
          </p:cNvPr>
          <p:cNvSpPr txBox="1"/>
          <p:nvPr/>
        </p:nvSpPr>
        <p:spPr>
          <a:xfrm>
            <a:off x="3400381" y="268568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</a:t>
            </a: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7F7F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</a:p>
          <a:p>
            <a:pPr algn="ctr"/>
            <a:r>
              <a:rPr lang="en-US" sz="1100" dirty="0">
                <a:solidFill>
                  <a:srgbClr val="7F7F7F"/>
                </a:solidFill>
                <a:latin typeface="Courier New" pitchFamily="34" charset="0"/>
                <a:cs typeface="Courier New" pitchFamily="34" charset="-120"/>
              </a:rPr>
              <a:t>git diff</a:t>
            </a:r>
            <a:endParaRPr lang="en-US" sz="1100" dirty="0">
              <a:solidFill>
                <a:srgbClr val="7F7F7F"/>
              </a:solidFill>
            </a:endParaRPr>
          </a:p>
        </p:txBody>
      </p:sp>
      <p:sp>
        <p:nvSpPr>
          <p:cNvPr id="74" name="Shape 10">
            <a:extLst>
              <a:ext uri="{FF2B5EF4-FFF2-40B4-BE49-F238E27FC236}">
                <a16:creationId xmlns:a16="http://schemas.microsoft.com/office/drawing/2014/main" id="{2048EDE9-B03F-FAD6-7FB3-EBF33D557BF7}"/>
              </a:ext>
            </a:extLst>
          </p:cNvPr>
          <p:cNvSpPr/>
          <p:nvPr/>
        </p:nvSpPr>
        <p:spPr>
          <a:xfrm>
            <a:off x="5739689" y="2658254"/>
            <a:ext cx="393192" cy="0"/>
          </a:xfrm>
          <a:prstGeom prst="line">
            <a:avLst/>
          </a:prstGeom>
          <a:noFill/>
          <a:ln w="25400">
            <a:solidFill>
              <a:srgbClr val="F05133"/>
            </a:solidFill>
            <a:prstDash val="solid"/>
            <a:tailEnd type="triangle"/>
          </a:ln>
        </p:spPr>
      </p:sp>
      <p:sp>
        <p:nvSpPr>
          <p:cNvPr id="75" name="Text 12">
            <a:extLst>
              <a:ext uri="{FF2B5EF4-FFF2-40B4-BE49-F238E27FC236}">
                <a16:creationId xmlns:a16="http://schemas.microsoft.com/office/drawing/2014/main" id="{1A0AB642-C3BC-96A3-2E6C-E6066963FFE4}"/>
              </a:ext>
            </a:extLst>
          </p:cNvPr>
          <p:cNvSpPr txBox="1"/>
          <p:nvPr/>
        </p:nvSpPr>
        <p:spPr>
          <a:xfrm>
            <a:off x="6215177" y="222848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 err="1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</a:t>
            </a:r>
            <a:r>
              <a:rPr lang="en-US" sz="14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</a:t>
            </a:r>
            <a:r>
              <a:rPr lang="en-US" sz="1450" b="1" dirty="0" err="1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</a:t>
            </a:r>
            <a:endParaRPr lang="en-US" sz="1450" b="1" dirty="0">
              <a:solidFill>
                <a:srgbClr val="24292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14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commit</a:t>
            </a:r>
            <a:endParaRPr lang="en-US" sz="1450" dirty="0"/>
          </a:p>
        </p:txBody>
      </p:sp>
      <p:sp>
        <p:nvSpPr>
          <p:cNvPr id="76" name="Text 13">
            <a:extLst>
              <a:ext uri="{FF2B5EF4-FFF2-40B4-BE49-F238E27FC236}">
                <a16:creationId xmlns:a16="http://schemas.microsoft.com/office/drawing/2014/main" id="{255AA2A9-49C6-5D43-5DEA-CCF3A52E0F82}"/>
              </a:ext>
            </a:extLst>
          </p:cNvPr>
          <p:cNvSpPr txBox="1"/>
          <p:nvPr/>
        </p:nvSpPr>
        <p:spPr>
          <a:xfrm>
            <a:off x="6231835" y="2685686"/>
            <a:ext cx="22693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</a:t>
            </a: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7F7F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</a:t>
            </a:r>
            <a:endParaRPr lang="en-US" sz="1100" dirty="0">
              <a:solidFill>
                <a:srgbClr val="7F7F7F"/>
              </a:solidFill>
            </a:endParaRPr>
          </a:p>
        </p:txBody>
      </p:sp>
      <p:sp>
        <p:nvSpPr>
          <p:cNvPr id="77" name="Shape 14">
            <a:extLst>
              <a:ext uri="{FF2B5EF4-FFF2-40B4-BE49-F238E27FC236}">
                <a16:creationId xmlns:a16="http://schemas.microsoft.com/office/drawing/2014/main" id="{5D4FE289-BD1F-3376-9DB3-1F3EA57F59B0}"/>
              </a:ext>
            </a:extLst>
          </p:cNvPr>
          <p:cNvSpPr/>
          <p:nvPr/>
        </p:nvSpPr>
        <p:spPr>
          <a:xfrm>
            <a:off x="8583473" y="2643849"/>
            <a:ext cx="393192" cy="0"/>
          </a:xfrm>
          <a:prstGeom prst="line">
            <a:avLst/>
          </a:prstGeom>
          <a:noFill/>
          <a:ln w="25400">
            <a:solidFill>
              <a:srgbClr val="F05133"/>
            </a:solidFill>
            <a:prstDash val="solid"/>
            <a:tailEnd type="triangle"/>
          </a:ln>
        </p:spPr>
      </p:sp>
      <p:sp>
        <p:nvSpPr>
          <p:cNvPr id="78" name="Text 16">
            <a:extLst>
              <a:ext uri="{FF2B5EF4-FFF2-40B4-BE49-F238E27FC236}">
                <a16:creationId xmlns:a16="http://schemas.microsoft.com/office/drawing/2014/main" id="{F6E04752-AD17-FF1C-ED32-F0746D3BD4B1}"/>
              </a:ext>
            </a:extLst>
          </p:cNvPr>
          <p:cNvSpPr txBox="1"/>
          <p:nvPr/>
        </p:nvSpPr>
        <p:spPr>
          <a:xfrm>
            <a:off x="9032561" y="222848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 err="1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Effectuer</a:t>
            </a:r>
            <a:r>
              <a:rPr lang="en-US" sz="14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commit</a:t>
            </a:r>
            <a:endParaRPr lang="en-US" sz="1450" dirty="0"/>
          </a:p>
        </p:txBody>
      </p:sp>
      <p:sp>
        <p:nvSpPr>
          <p:cNvPr id="79" name="Text 17">
            <a:extLst>
              <a:ext uri="{FF2B5EF4-FFF2-40B4-BE49-F238E27FC236}">
                <a16:creationId xmlns:a16="http://schemas.microsoft.com/office/drawing/2014/main" id="{9CA3199F-626D-46FF-5EB9-E0F503D44200}"/>
              </a:ext>
            </a:extLst>
          </p:cNvPr>
          <p:cNvSpPr txBox="1"/>
          <p:nvPr/>
        </p:nvSpPr>
        <p:spPr>
          <a:xfrm>
            <a:off x="9032560" y="2712816"/>
            <a:ext cx="22769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</a:t>
            </a: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7F7F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</a:t>
            </a:r>
            <a:endParaRPr lang="en-US" sz="1100" dirty="0">
              <a:solidFill>
                <a:srgbClr val="7F7F7F"/>
              </a:solidFill>
            </a:endParaRPr>
          </a:p>
        </p:txBody>
      </p:sp>
      <p:sp>
        <p:nvSpPr>
          <p:cNvPr id="80" name="Text 17">
            <a:extLst>
              <a:ext uri="{FF2B5EF4-FFF2-40B4-BE49-F238E27FC236}">
                <a16:creationId xmlns:a16="http://schemas.microsoft.com/office/drawing/2014/main" id="{37B17944-4C1E-89E7-3432-18DDDC4FCB07}"/>
              </a:ext>
            </a:extLst>
          </p:cNvPr>
          <p:cNvSpPr txBox="1"/>
          <p:nvPr/>
        </p:nvSpPr>
        <p:spPr>
          <a:xfrm>
            <a:off x="640080" y="56863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Faites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commits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régulièrement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avec des messages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clairs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qui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permettent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qui a change.</a:t>
            </a:r>
            <a:endParaRPr lang="en-US" sz="1300" dirty="0"/>
          </a:p>
        </p:txBody>
      </p:sp>
      <p:sp>
        <p:nvSpPr>
          <p:cNvPr id="81" name="Shape 19">
            <a:extLst>
              <a:ext uri="{FF2B5EF4-FFF2-40B4-BE49-F238E27FC236}">
                <a16:creationId xmlns:a16="http://schemas.microsoft.com/office/drawing/2014/main" id="{ABEFD3A0-A462-5256-A105-B68653A977A5}"/>
              </a:ext>
            </a:extLst>
          </p:cNvPr>
          <p:cNvSpPr/>
          <p:nvPr/>
        </p:nvSpPr>
        <p:spPr>
          <a:xfrm>
            <a:off x="2255520" y="4833583"/>
            <a:ext cx="7680960" cy="561777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/>
        </p:spPr>
      </p:sp>
      <p:sp>
        <p:nvSpPr>
          <p:cNvPr id="82" name="Text 20">
            <a:extLst>
              <a:ext uri="{FF2B5EF4-FFF2-40B4-BE49-F238E27FC236}">
                <a16:creationId xmlns:a16="http://schemas.microsoft.com/office/drawing/2014/main" id="{F44D11CB-BC05-2753-0F5D-2AED89B69BC5}"/>
              </a:ext>
            </a:extLst>
          </p:cNvPr>
          <p:cNvSpPr txBox="1"/>
          <p:nvPr/>
        </p:nvSpPr>
        <p:spPr>
          <a:xfrm>
            <a:off x="2484120" y="4953113"/>
            <a:ext cx="7223760" cy="334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                                 # </a:t>
            </a:r>
            <a:r>
              <a:rPr lang="en-US" sz="1300" dirty="0" err="1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permet</a:t>
            </a: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 </a:t>
            </a:r>
            <a:r>
              <a:rPr lang="en-US" sz="1300" dirty="0" err="1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voir</a:t>
            </a: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 err="1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l’historique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RETOUR EN ARRIÈRE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Annuler des modifications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965960"/>
            <a:ext cx="10607040" cy="1005840"/>
          </a:xfrm>
          <a:prstGeom prst="roundRect">
            <a:avLst>
              <a:gd name="adj" fmla="val 5455"/>
            </a:avLst>
          </a:prstGeom>
          <a:solidFill>
            <a:srgbClr val="F6F8F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96596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Abandonner une modification non commitée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0" y="2194560"/>
            <a:ext cx="3749040" cy="548640"/>
          </a:xfrm>
          <a:prstGeom prst="roundRect">
            <a:avLst>
              <a:gd name="adj" fmla="val 10000"/>
            </a:avLst>
          </a:prstGeom>
          <a:solidFill>
            <a:srgbClr val="0D11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0" y="2194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restore README.md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10607040" cy="1005840"/>
          </a:xfrm>
          <a:prstGeom prst="roundRect">
            <a:avLst>
              <a:gd name="adj" fmla="val 5455"/>
            </a:avLst>
          </a:prstGeom>
          <a:solidFill>
            <a:srgbClr val="F6F8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20040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Retirer un fichier de la zone de préparation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583680" y="3429000"/>
            <a:ext cx="3749040" cy="548640"/>
          </a:xfrm>
          <a:prstGeom prst="roundRect">
            <a:avLst>
              <a:gd name="adj" fmla="val 10000"/>
            </a:avLst>
          </a:prstGeom>
          <a:solidFill>
            <a:srgbClr val="0D111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34290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restore --staged README.md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0607040" cy="1005840"/>
          </a:xfrm>
          <a:prstGeom prst="roundRect">
            <a:avLst>
              <a:gd name="adj" fmla="val 5455"/>
            </a:avLst>
          </a:prstGeom>
          <a:solidFill>
            <a:srgbClr val="F6F8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4348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Consulter un ancien commit sans changer de branche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583680" y="4663440"/>
            <a:ext cx="3749040" cy="548640"/>
          </a:xfrm>
          <a:prstGeom prst="roundRect">
            <a:avLst>
              <a:gd name="adj" fmla="val 10000"/>
            </a:avLst>
          </a:prstGeom>
          <a:solidFill>
            <a:srgbClr val="0D111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83680" y="46634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-d &lt;commit&gt;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640080" y="5760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F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restore efface définitivement les modifications non commitées — vérifiez avec git diff avant de l'utiliser.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METTRE DE CÔTÉ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stash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Changer de branche sans commit prématuré :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8904" y="24231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8904" y="242316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cours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429104" y="2944368"/>
            <a:ext cx="164592" cy="0"/>
          </a:xfrm>
          <a:prstGeom prst="line">
            <a:avLst/>
          </a:prstGeom>
          <a:noFill/>
          <a:ln w="2540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621128" y="24231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F05133"/>
          </a:solidFill>
          <a:ln w="19050">
            <a:solidFill>
              <a:srgbClr val="F051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21128" y="242316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stash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21328" y="2944368"/>
            <a:ext cx="164592" cy="0"/>
          </a:xfrm>
          <a:prstGeom prst="line">
            <a:avLst/>
          </a:prstGeom>
          <a:noFill/>
          <a:ln w="2540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413352" y="24231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13352" y="242316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429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2429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13552" y="2944368"/>
            <a:ext cx="164592" cy="0"/>
          </a:xfrm>
          <a:prstGeom prst="line">
            <a:avLst/>
          </a:prstGeom>
          <a:noFill/>
          <a:ln w="2540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205576" y="24231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05576" y="242316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805776" y="2944368"/>
            <a:ext cx="164592" cy="0"/>
          </a:xfrm>
          <a:prstGeom prst="line">
            <a:avLst/>
          </a:prstGeom>
          <a:noFill/>
          <a:ln w="2540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997800" y="24231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997800" y="242316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429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2429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598000" y="2944368"/>
            <a:ext cx="164592" cy="0"/>
          </a:xfrm>
          <a:prstGeom prst="line">
            <a:avLst/>
          </a:prstGeom>
          <a:noFill/>
          <a:ln w="2540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790024" y="24231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F05133"/>
          </a:solidFill>
          <a:ln w="19050">
            <a:solidFill>
              <a:srgbClr val="F051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790024" y="242316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stash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752448" y="3931920"/>
            <a:ext cx="8686800" cy="1920240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81048" y="4096512"/>
            <a:ext cx="822960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stash push -m "Nettoyage en cours"   # met de côté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stash list                          # liste les stash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stash pop                           # réapplique et supprime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stash drop stash@{0}                # supprime sans réappliquer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2103120" cy="2103120"/>
          </a:xfrm>
          <a:prstGeom prst="ellipse">
            <a:avLst/>
          </a:prstGeom>
          <a:solidFill>
            <a:srgbClr val="161B22"/>
          </a:solidFill>
          <a:ln w="25400">
            <a:solidFill>
              <a:srgbClr val="F051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3383280" y="265176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Branches et fusion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36118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Diverger sans perturber le travail des autres, puis réunir le tout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DIVERGER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branches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291840"/>
            <a:ext cx="2926080" cy="0"/>
          </a:xfrm>
          <a:prstGeom prst="line">
            <a:avLst/>
          </a:prstGeom>
          <a:noFill/>
          <a:ln w="38100">
            <a:solidFill>
              <a:srgbClr val="2429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3218688"/>
            <a:ext cx="146304" cy="146304"/>
          </a:xfrm>
          <a:prstGeom prst="ellipse">
            <a:avLst/>
          </a:prstGeom>
          <a:solidFill>
            <a:srgbClr val="24292F"/>
          </a:solidFill>
          <a:ln/>
        </p:spPr>
      </p:sp>
      <p:sp>
        <p:nvSpPr>
          <p:cNvPr id="7" name="Shape 5"/>
          <p:cNvSpPr/>
          <p:nvPr/>
        </p:nvSpPr>
        <p:spPr>
          <a:xfrm>
            <a:off x="3703320" y="3218688"/>
            <a:ext cx="146304" cy="146304"/>
          </a:xfrm>
          <a:prstGeom prst="ellipse">
            <a:avLst/>
          </a:prstGeom>
          <a:solidFill>
            <a:srgbClr val="2429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7432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29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 flipV="1">
            <a:off x="3840480" y="2389518"/>
            <a:ext cx="4114800" cy="902322"/>
          </a:xfrm>
          <a:prstGeom prst="line">
            <a:avLst/>
          </a:prstGeom>
          <a:noFill/>
          <a:ln w="38100">
            <a:solidFill>
              <a:srgbClr val="0969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0" y="2304288"/>
            <a:ext cx="146304" cy="146304"/>
          </a:xfrm>
          <a:prstGeom prst="ellipse">
            <a:avLst/>
          </a:prstGeom>
          <a:solidFill>
            <a:srgbClr val="0969D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092440" y="2148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969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 flipV="1">
            <a:off x="3840480" y="3291838"/>
            <a:ext cx="4114800" cy="1"/>
          </a:xfrm>
          <a:prstGeom prst="line">
            <a:avLst/>
          </a:prstGeom>
          <a:noFill/>
          <a:ln w="38100">
            <a:solidFill>
              <a:srgbClr val="24292F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7863840" y="3218688"/>
            <a:ext cx="146304" cy="146304"/>
          </a:xfrm>
          <a:prstGeom prst="ellipse">
            <a:avLst/>
          </a:prstGeom>
          <a:solidFill>
            <a:srgbClr val="2429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40080" y="4572000"/>
            <a:ext cx="10607040" cy="13716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4736592"/>
            <a:ext cx="101498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-c analyse   # crée la branche et s'y positionne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             # liste les branches (* = active)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main         # revient sur main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RÉUNIR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Fusionner son travail (merge)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017520"/>
            <a:ext cx="2286000" cy="0"/>
          </a:xfrm>
          <a:prstGeom prst="line">
            <a:avLst/>
          </a:prstGeom>
          <a:noFill/>
          <a:ln w="38100">
            <a:solidFill>
              <a:srgbClr val="2429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00400" y="2194560"/>
            <a:ext cx="3200400" cy="822960"/>
          </a:xfrm>
          <a:prstGeom prst="line">
            <a:avLst/>
          </a:prstGeom>
          <a:noFill/>
          <a:ln w="38100">
            <a:solidFill>
              <a:srgbClr val="0969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2194560"/>
            <a:ext cx="1828800" cy="822960"/>
          </a:xfrm>
          <a:prstGeom prst="line">
            <a:avLst/>
          </a:prstGeom>
          <a:noFill/>
          <a:ln w="38100">
            <a:solidFill>
              <a:srgbClr val="0969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1389" y="3017520"/>
            <a:ext cx="5098211" cy="0"/>
          </a:xfrm>
          <a:prstGeom prst="line">
            <a:avLst/>
          </a:prstGeom>
          <a:noFill/>
          <a:ln w="38100">
            <a:solidFill>
              <a:srgbClr val="24292F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8138160" y="2926080"/>
            <a:ext cx="182880" cy="182880"/>
          </a:xfrm>
          <a:prstGeom prst="ellipse">
            <a:avLst/>
          </a:prstGeom>
          <a:solidFill>
            <a:srgbClr val="F0513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0" y="3154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5146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29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18745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969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10607040" cy="13716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370832"/>
            <a:ext cx="101498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main</a:t>
            </a:r>
          </a:p>
          <a:p>
            <a:pPr>
              <a:lnSpc>
                <a:spcPct val="125000"/>
              </a:lnSpc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diff </a:t>
            </a:r>
            <a:r>
              <a:rPr lang="en-US" sz="1350" dirty="0" err="1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branchB</a:t>
            </a: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r>
              <a:rPr lang="en-US" sz="1350" dirty="0" err="1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branchA</a:t>
            </a: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comparer deux branches </a:t>
            </a:r>
            <a:r>
              <a:rPr lang="en-US" sz="1350" dirty="0" err="1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avant</a:t>
            </a: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 </a:t>
            </a:r>
            <a:r>
              <a:rPr lang="en-US" sz="1350" dirty="0" err="1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fusionner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merge analyse           # intègre les commits de "analyse" dans "main"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Shape 7">
            <a:extLst>
              <a:ext uri="{FF2B5EF4-FFF2-40B4-BE49-F238E27FC236}">
                <a16:creationId xmlns:a16="http://schemas.microsoft.com/office/drawing/2014/main" id="{84B401F1-DF40-2E2E-08D9-AF9289BE6E81}"/>
              </a:ext>
            </a:extLst>
          </p:cNvPr>
          <p:cNvSpPr/>
          <p:nvPr/>
        </p:nvSpPr>
        <p:spPr>
          <a:xfrm>
            <a:off x="6309360" y="2112264"/>
            <a:ext cx="182880" cy="182880"/>
          </a:xfrm>
          <a:prstGeom prst="ellipse">
            <a:avLst/>
          </a:prstGeom>
          <a:solidFill>
            <a:srgbClr val="0969DA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CAS PARTICULIER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conflits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52629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branches modifient la même partie d'un même fichier :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2163928" y="2377440"/>
            <a:ext cx="7863840" cy="2103120"/>
          </a:xfrm>
          <a:prstGeom prst="roundRect">
            <a:avLst>
              <a:gd name="adj" fmla="val 2609"/>
            </a:avLst>
          </a:prstGeom>
          <a:solidFill>
            <a:srgbClr val="161B2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483968" y="2606040"/>
            <a:ext cx="7223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&lt;&lt;&lt;&lt;&lt;&lt;&lt; Analyse A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Cette analyse porte sur la population française.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7B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Cette analyse porte sur la population allemande.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&gt;&gt;&gt;&gt;&gt;&gt;&gt; Analyse B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163928" y="4709160"/>
            <a:ext cx="7863840" cy="1280160"/>
          </a:xfrm>
          <a:prstGeom prst="roundRect">
            <a:avLst>
              <a:gd name="adj" fmla="val 4286"/>
            </a:avLst>
          </a:prstGeom>
          <a:solidFill>
            <a:srgbClr val="161B2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392528" y="4873752"/>
            <a:ext cx="74066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README.md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"Résout le conflit lors de la fusion"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conflit n'est pas une erreur : Git a simplement besoin d'une décision humaine.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2103120" cy="2103120"/>
          </a:xfrm>
          <a:prstGeom prst="ellipse">
            <a:avLst/>
          </a:prstGeom>
          <a:solidFill>
            <a:srgbClr val="161B22"/>
          </a:solidFill>
          <a:ln w="25400">
            <a:solidFill>
              <a:srgbClr val="F051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3383280" y="265176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Travailler avec un dépôt distant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36118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Sauvegarder, partager et collaborer via GitHub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DÉMARRER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Connecter un projet, </a:t>
            </a:r>
            <a:r>
              <a:rPr lang="en-US" sz="3000" b="1" dirty="0" err="1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</a:t>
            </a: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000" b="1" dirty="0" err="1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</a:t>
            </a: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000" b="1" dirty="0" err="1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récupérer</a:t>
            </a: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965960"/>
            <a:ext cx="5029200" cy="3931920"/>
          </a:xfrm>
          <a:prstGeom prst="roundRect">
            <a:avLst>
              <a:gd name="adj" fmla="val 1860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Publier un projet local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914400" y="2697480"/>
            <a:ext cx="4480560" cy="3017520"/>
          </a:xfrm>
          <a:prstGeom prst="roundRect">
            <a:avLst>
              <a:gd name="adj" fmla="val 1818"/>
            </a:avLst>
          </a:prstGeom>
          <a:solidFill>
            <a:srgbClr val="161B2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43000" y="2862072"/>
            <a:ext cx="4023360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remote add origin \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URL-DU-DEPOT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remote -v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-M main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-u origin main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5029200" cy="3931920"/>
          </a:xfrm>
          <a:prstGeom prst="roundRect">
            <a:avLst>
              <a:gd name="adj" fmla="val 1860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Récupérer un projet existant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583680" y="2697480"/>
            <a:ext cx="4480560" cy="109728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12280" y="2862072"/>
            <a:ext cx="4023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&lt;URL-DU-DEPOT&gt;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397764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crée un dossier contenant le projet et son historique complet — utile lorsqu'on rejoint une équipe.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COLLABORATION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workflow d'équipe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828904" y="210312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0D111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8904" y="210312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429104" y="2624328"/>
            <a:ext cx="164592" cy="0"/>
          </a:xfrm>
          <a:prstGeom prst="line">
            <a:avLst/>
          </a:prstGeom>
          <a:noFill/>
          <a:ln w="2540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621128" y="210312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0D111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21128" y="210312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 -c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21328" y="2624328"/>
            <a:ext cx="164592" cy="0"/>
          </a:xfrm>
          <a:prstGeom prst="line">
            <a:avLst/>
          </a:prstGeom>
          <a:noFill/>
          <a:ln w="2540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413352" y="210312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0D111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13352" y="210312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/ commit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13552" y="2624328"/>
            <a:ext cx="164592" cy="0"/>
          </a:xfrm>
          <a:prstGeom prst="line">
            <a:avLst/>
          </a:prstGeom>
          <a:noFill/>
          <a:ln w="2540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205576" y="210312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0D111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05576" y="210312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805776" y="2624328"/>
            <a:ext cx="164592" cy="0"/>
          </a:xfrm>
          <a:prstGeom prst="line">
            <a:avLst/>
          </a:prstGeom>
          <a:noFill/>
          <a:ln w="2540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997800" y="2103120"/>
            <a:ext cx="1572768" cy="1051560"/>
          </a:xfrm>
          <a:prstGeom prst="roundRect">
            <a:avLst>
              <a:gd name="adj" fmla="val 6957"/>
            </a:avLst>
          </a:prstGeom>
          <a:solidFill>
            <a:schemeClr val="tx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997800" y="2098548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Pull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598000" y="2624328"/>
            <a:ext cx="164592" cy="0"/>
          </a:xfrm>
          <a:prstGeom prst="line">
            <a:avLst/>
          </a:prstGeom>
          <a:noFill/>
          <a:ln w="2540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790024" y="210312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0D111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790024" y="210312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09360" y="3703320"/>
            <a:ext cx="5029200" cy="2377440"/>
          </a:xfrm>
          <a:prstGeom prst="roundRect">
            <a:avLst>
              <a:gd name="adj" fmla="val 3077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0" y="3886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4297680"/>
            <a:ext cx="4480560" cy="5486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Suivre les tâches, bugs et demandes d'évolution directement depuis GitHub, reliées à des branches et des Pull Requests.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27" name="Shape 21">
            <a:extLst>
              <a:ext uri="{FF2B5EF4-FFF2-40B4-BE49-F238E27FC236}">
                <a16:creationId xmlns:a16="http://schemas.microsoft.com/office/drawing/2014/main" id="{E32B1FA9-CBC3-CFB8-6699-5140ABA816A1}"/>
              </a:ext>
            </a:extLst>
          </p:cNvPr>
          <p:cNvSpPr/>
          <p:nvPr/>
        </p:nvSpPr>
        <p:spPr>
          <a:xfrm>
            <a:off x="828904" y="3703320"/>
            <a:ext cx="5029200" cy="2377440"/>
          </a:xfrm>
          <a:prstGeom prst="roundRect">
            <a:avLst>
              <a:gd name="adj" fmla="val 3077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28" name="Text 22">
            <a:extLst>
              <a:ext uri="{FF2B5EF4-FFF2-40B4-BE49-F238E27FC236}">
                <a16:creationId xmlns:a16="http://schemas.microsoft.com/office/drawing/2014/main" id="{0A03BCA8-62AD-CC91-4022-3775719A0B71}"/>
              </a:ext>
            </a:extLst>
          </p:cNvPr>
          <p:cNvSpPr txBox="1"/>
          <p:nvPr/>
        </p:nvSpPr>
        <p:spPr>
          <a:xfrm>
            <a:off x="1103224" y="3878263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/ Merge request</a:t>
            </a:r>
            <a:endParaRPr lang="en-US" sz="1500" dirty="0"/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F1E3795F-E3A1-7365-ED68-43FE33BE3001}"/>
              </a:ext>
            </a:extLst>
          </p:cNvPr>
          <p:cNvSpPr txBox="1"/>
          <p:nvPr/>
        </p:nvSpPr>
        <p:spPr>
          <a:xfrm>
            <a:off x="1081296" y="4297680"/>
            <a:ext cx="4480560" cy="5486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</a:t>
            </a:r>
            <a:r>
              <a:rPr lang="en-US" sz="1250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</a:t>
            </a:r>
            <a:r>
              <a:rPr lang="en-US" sz="12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à </a:t>
            </a:r>
            <a:r>
              <a:rPr lang="en-US" sz="1250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</a:t>
            </a:r>
            <a:r>
              <a:rPr lang="en-US" sz="12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qu’une</a:t>
            </a:r>
            <a:r>
              <a:rPr lang="en-US" sz="12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</a:t>
            </a:r>
            <a:r>
              <a:rPr lang="en-US" sz="12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soit</a:t>
            </a:r>
            <a:r>
              <a:rPr lang="en-US" sz="12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incorporée</a:t>
            </a:r>
            <a:r>
              <a:rPr lang="en-US" sz="12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dans main ; </a:t>
            </a:r>
            <a:r>
              <a:rPr lang="en-US" sz="1250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c’est</a:t>
            </a:r>
            <a:r>
              <a:rPr lang="en-US" sz="12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sz="12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étape de validation du travail.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2103120" cy="2103120"/>
          </a:xfrm>
          <a:prstGeom prst="ellipse">
            <a:avLst/>
          </a:prstGeom>
          <a:solidFill>
            <a:srgbClr val="161B22"/>
          </a:solidFill>
          <a:ln w="25400">
            <a:solidFill>
              <a:srgbClr val="F051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3383280" y="265176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RStudio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36118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Retrouver les mêmes opérations Git, depuis son environnement de travail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AUTHENTIFICATION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S'authentifier avec un jeton (PAT)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2021, GitHub n'accepte plus les mots de passe classiques en HTTPS — il faut un Personal Access Token (PAT).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468880"/>
            <a:ext cx="384048" cy="384048"/>
          </a:xfrm>
          <a:prstGeom prst="ellipse">
            <a:avLst/>
          </a:prstGeom>
          <a:solidFill>
            <a:srgbClr val="F0513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478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48716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connecter sur github.com → avatar → Settings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035808"/>
            <a:ext cx="384048" cy="384048"/>
          </a:xfrm>
          <a:prstGeom prst="ellipse">
            <a:avLst/>
          </a:prstGeom>
          <a:solidFill>
            <a:srgbClr val="F0513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044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05409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settings → Personal access tokens → Tokens (classic)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602736"/>
            <a:ext cx="384048" cy="384048"/>
          </a:xfrm>
          <a:prstGeom prst="ellipse">
            <a:avLst/>
          </a:prstGeom>
          <a:solidFill>
            <a:srgbClr val="F0513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62102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new token (classic)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169664"/>
            <a:ext cx="384048" cy="384048"/>
          </a:xfrm>
          <a:prstGeom prst="ellipse">
            <a:avLst/>
          </a:prstGeom>
          <a:solidFill>
            <a:srgbClr val="F0513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18795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explicite, date d'expiration, scope "repo"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736592"/>
            <a:ext cx="384048" cy="384048"/>
          </a:xfrm>
          <a:prstGeom prst="ellipse">
            <a:avLst/>
          </a:prstGeom>
          <a:solidFill>
            <a:srgbClr val="F0513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745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7548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token → copier immédiatement le jeton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0" y="2468880"/>
            <a:ext cx="4206240" cy="3108960"/>
          </a:xfrm>
          <a:prstGeom prst="roundRect">
            <a:avLst>
              <a:gd name="adj" fmla="val 2353"/>
            </a:avLst>
          </a:prstGeom>
          <a:solidFill>
            <a:srgbClr val="0D111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589520" y="2697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/!\ Le jeton ne sera plus jamais affiché après sa création.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589520" y="347472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remplace le mot de passe lors d'un push/pull en HTTPS. Un gestionnaire d'identifiants permet de l'enregistrer une seule fois.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INTÉGRATION GRAPHIQUE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dans RStudio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965960"/>
            <a:ext cx="5029200" cy="3931920"/>
          </a:xfrm>
          <a:prstGeom prst="roundRect">
            <a:avLst>
              <a:gd name="adj" fmla="val 1860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RStudio</a:t>
            </a:r>
            <a:endParaRPr lang="en-US" sz="1600" dirty="0">
              <a:solidFill>
                <a:srgbClr val="F05133"/>
              </a:solidFill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914400" y="2697480"/>
            <a:ext cx="4480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Connecter RStudio à Git (Tools &gt; Global Options)</a:t>
            </a:r>
            <a:endParaRPr lang="en-US" sz="13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S'authentifier avec le PAT : gitcreds::gitcreds_set()</a:t>
            </a:r>
            <a:endParaRPr lang="en-US" sz="13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 err="1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Initialiser</a:t>
            </a:r>
            <a:r>
              <a:rPr lang="en-US" sz="13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git via R : </a:t>
            </a:r>
            <a:r>
              <a:rPr lang="fr-FR" altLang="fr-FR" sz="1350" dirty="0" err="1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usethis</a:t>
            </a:r>
            <a:r>
              <a:rPr lang="fr-FR" altLang="fr-FR" sz="13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::</a:t>
            </a:r>
            <a:r>
              <a:rPr lang="fr-FR" altLang="fr-FR" sz="1350" dirty="0" err="1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use_git</a:t>
            </a:r>
            <a:r>
              <a:rPr lang="fr-FR" altLang="fr-FR" sz="13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() </a:t>
            </a:r>
            <a:endParaRPr lang="en-US" sz="1350" dirty="0">
              <a:solidFill>
                <a:srgbClr val="24292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Onglet Git : </a:t>
            </a:r>
            <a:r>
              <a:rPr lang="en-US" sz="1350" dirty="0" err="1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</a:t>
            </a:r>
            <a:r>
              <a:rPr lang="en-US" sz="13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commit, pull/push, branches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7B7067EC-DFA9-4EAA-6B57-3EAD86A51060}"/>
              </a:ext>
            </a:extLst>
          </p:cNvPr>
          <p:cNvSpPr/>
          <p:nvPr/>
        </p:nvSpPr>
        <p:spPr>
          <a:xfrm>
            <a:off x="6096000" y="1965960"/>
            <a:ext cx="5029200" cy="3931920"/>
          </a:xfrm>
          <a:prstGeom prst="roundRect">
            <a:avLst>
              <a:gd name="adj" fmla="val 1818"/>
            </a:avLst>
          </a:prstGeom>
          <a:solidFill>
            <a:srgbClr val="161B22"/>
          </a:solidFill>
          <a:ln/>
        </p:spPr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1B22A4DD-7888-2CDA-AEE1-F5333D22CBAA}"/>
              </a:ext>
            </a:extLst>
          </p:cNvPr>
          <p:cNvSpPr txBox="1"/>
          <p:nvPr/>
        </p:nvSpPr>
        <p:spPr>
          <a:xfrm>
            <a:off x="1127760" y="4411578"/>
            <a:ext cx="4023360" cy="1138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endParaRPr lang="en-US" sz="1300" dirty="0"/>
          </a:p>
        </p:txBody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72738B09-6ACC-E4C5-3C43-D4C9B3725EB0}"/>
              </a:ext>
            </a:extLst>
          </p:cNvPr>
          <p:cNvSpPr txBox="1"/>
          <p:nvPr/>
        </p:nvSpPr>
        <p:spPr>
          <a:xfrm>
            <a:off x="6333422" y="2194561"/>
            <a:ext cx="4535103" cy="3355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fr-FR" altLang="fr-FR" sz="1300" dirty="0" err="1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library</a:t>
            </a:r>
            <a:r>
              <a:rPr lang="fr-FR" altLang="fr-FR" sz="13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("</a:t>
            </a:r>
            <a:r>
              <a:rPr lang="fr-FR" altLang="fr-FR" sz="1300" dirty="0" err="1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usethis</a:t>
            </a:r>
            <a:r>
              <a:rPr lang="fr-FR" altLang="fr-FR" sz="13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")</a:t>
            </a:r>
          </a:p>
          <a:p>
            <a:pPr>
              <a:lnSpc>
                <a:spcPct val="125000"/>
              </a:lnSpc>
            </a:pPr>
            <a:r>
              <a:rPr lang="fr-FR" altLang="fr-FR" sz="1300" dirty="0" err="1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use_git</a:t>
            </a:r>
            <a:r>
              <a:rPr lang="fr-FR" altLang="fr-FR" sz="13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() # uniquement si dossier </a:t>
            </a:r>
            <a:r>
              <a:rPr lang="fr-FR" altLang="fr-FR" sz="1300" dirty="0" err="1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non-git</a:t>
            </a:r>
            <a:endParaRPr lang="fr-FR" altLang="fr-FR" sz="1300" dirty="0">
              <a:solidFill>
                <a:srgbClr val="C9D1D9"/>
              </a:solidFill>
              <a:latin typeface="Courier New" pitchFamily="34" charset="0"/>
              <a:cs typeface="Courier New" pitchFamily="34" charset="-120"/>
            </a:endParaRPr>
          </a:p>
          <a:p>
            <a:pPr>
              <a:lnSpc>
                <a:spcPct val="125000"/>
              </a:lnSpc>
            </a:pPr>
            <a:endParaRPr lang="fr-FR" altLang="fr-FR" sz="1300" dirty="0">
              <a:solidFill>
                <a:srgbClr val="C9D1D9"/>
              </a:solidFill>
              <a:latin typeface="Courier New" pitchFamily="34" charset="0"/>
              <a:cs typeface="Courier New" pitchFamily="34" charset="-120"/>
            </a:endParaRPr>
          </a:p>
          <a:p>
            <a:pPr>
              <a:lnSpc>
                <a:spcPct val="125000"/>
              </a:lnSpc>
            </a:pPr>
            <a:r>
              <a:rPr lang="fr-FR" altLang="fr-FR" sz="1300" dirty="0" err="1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use_git_config</a:t>
            </a:r>
            <a:r>
              <a:rPr lang="fr-FR" altLang="fr-FR" sz="13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(</a:t>
            </a:r>
          </a:p>
          <a:p>
            <a:pPr>
              <a:lnSpc>
                <a:spcPct val="125000"/>
              </a:lnSpc>
            </a:pPr>
            <a:r>
              <a:rPr lang="fr-FR" altLang="fr-FR" sz="13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  user.name = &lt;Nom prénom&gt;, </a:t>
            </a:r>
          </a:p>
          <a:p>
            <a:pPr>
              <a:lnSpc>
                <a:spcPct val="125000"/>
              </a:lnSpc>
            </a:pPr>
            <a:r>
              <a:rPr lang="fr-FR" altLang="fr-FR" sz="13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  </a:t>
            </a:r>
            <a:r>
              <a:rPr lang="fr-FR" altLang="fr-FR" sz="1300" dirty="0" err="1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user.email</a:t>
            </a:r>
            <a:r>
              <a:rPr lang="fr-FR" altLang="fr-FR" sz="13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 = &lt;mail </a:t>
            </a:r>
            <a:r>
              <a:rPr lang="fr-FR" altLang="fr-FR" sz="1300" dirty="0" err="1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github</a:t>
            </a:r>
            <a:r>
              <a:rPr lang="fr-FR" altLang="fr-FR" sz="13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&gt;</a:t>
            </a:r>
          </a:p>
          <a:p>
            <a:pPr>
              <a:lnSpc>
                <a:spcPct val="125000"/>
              </a:lnSpc>
            </a:pPr>
            <a:r>
              <a:rPr lang="fr-FR" altLang="fr-FR" sz="13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)</a:t>
            </a:r>
          </a:p>
          <a:p>
            <a:pPr>
              <a:lnSpc>
                <a:spcPct val="125000"/>
              </a:lnSpc>
            </a:pPr>
            <a:endParaRPr lang="fr-FR" altLang="fr-FR" sz="1300" dirty="0">
              <a:solidFill>
                <a:srgbClr val="C9D1D9"/>
              </a:solidFill>
              <a:latin typeface="Courier New" pitchFamily="34" charset="0"/>
              <a:cs typeface="Courier New" pitchFamily="34" charset="-120"/>
            </a:endParaRPr>
          </a:p>
          <a:p>
            <a:pPr>
              <a:lnSpc>
                <a:spcPct val="125000"/>
              </a:lnSpc>
            </a:pPr>
            <a:r>
              <a:rPr lang="fr-FR" altLang="fr-FR" sz="1300" dirty="0" err="1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create_github_token</a:t>
            </a:r>
            <a:r>
              <a:rPr lang="fr-FR" altLang="fr-FR" sz="13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() # Créer un PAT</a:t>
            </a:r>
          </a:p>
          <a:p>
            <a:pPr>
              <a:lnSpc>
                <a:spcPct val="125000"/>
              </a:lnSpc>
            </a:pPr>
            <a:r>
              <a:rPr lang="fr-FR" altLang="fr-FR" sz="1300" dirty="0" err="1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gitcreds_set</a:t>
            </a:r>
            <a:r>
              <a:rPr lang="fr-FR" altLang="fr-FR" sz="13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() # Entrer le PAT </a:t>
            </a:r>
          </a:p>
          <a:p>
            <a:pPr>
              <a:lnSpc>
                <a:spcPct val="125000"/>
              </a:lnSpc>
            </a:pPr>
            <a:endParaRPr lang="fr-FR" altLang="fr-FR" sz="1300" dirty="0">
              <a:solidFill>
                <a:srgbClr val="C9D1D9"/>
              </a:solidFill>
              <a:latin typeface="Courier New" pitchFamily="34" charset="0"/>
              <a:cs typeface="Courier New" pitchFamily="34" charset="-120"/>
            </a:endParaRPr>
          </a:p>
          <a:p>
            <a:pPr>
              <a:lnSpc>
                <a:spcPct val="125000"/>
              </a:lnSpc>
            </a:pPr>
            <a:r>
              <a:rPr lang="fr-FR" altLang="fr-FR" sz="1300" dirty="0" err="1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git_sitrep</a:t>
            </a:r>
            <a:r>
              <a:rPr lang="fr-FR" altLang="fr-FR" sz="13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() # Vérifier la config</a:t>
            </a:r>
          </a:p>
          <a:p>
            <a:pPr>
              <a:lnSpc>
                <a:spcPct val="125000"/>
              </a:lnSpc>
            </a:pPr>
            <a:endParaRPr lang="fr-FR" altLang="fr-FR" sz="1300" dirty="0">
              <a:solidFill>
                <a:srgbClr val="C9D1D9"/>
              </a:solidFill>
              <a:latin typeface="Courier New" pitchFamily="34" charset="0"/>
              <a:cs typeface="Courier New" pitchFamily="34" charset="-120"/>
            </a:endParaRPr>
          </a:p>
        </p:txBody>
      </p:sp>
      <p:sp>
        <p:nvSpPr>
          <p:cNvPr id="18" name="Rectangle 4">
            <a:extLst>
              <a:ext uri="{FF2B5EF4-FFF2-40B4-BE49-F238E27FC236}">
                <a16:creationId xmlns:a16="http://schemas.microsoft.com/office/drawing/2014/main" id="{98A5D342-C209-2E29-CCF3-12108C4397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1255"/>
            <a:ext cx="65" cy="334689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5713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Rectangle 5">
            <a:extLst>
              <a:ext uri="{FF2B5EF4-FFF2-40B4-BE49-F238E27FC236}">
                <a16:creationId xmlns:a16="http://schemas.microsoft.com/office/drawing/2014/main" id="{54B56E98-6A07-FE7B-8AA5-DFA0873006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1255"/>
            <a:ext cx="65" cy="334689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5713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6">
            <a:extLst>
              <a:ext uri="{FF2B5EF4-FFF2-40B4-BE49-F238E27FC236}">
                <a16:creationId xmlns:a16="http://schemas.microsoft.com/office/drawing/2014/main" id="{A0EC09E4-B64C-D6C3-29B4-42D0C22753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1255"/>
            <a:ext cx="65" cy="334689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5713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2" name="Rectangle 8">
            <a:extLst>
              <a:ext uri="{FF2B5EF4-FFF2-40B4-BE49-F238E27FC236}">
                <a16:creationId xmlns:a16="http://schemas.microsoft.com/office/drawing/2014/main" id="{F495FF5B-B8FA-E623-D669-383C592DC4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242500"/>
            <a:ext cx="65" cy="276999"/>
          </a:xfrm>
          <a:prstGeom prst="rect">
            <a:avLst/>
          </a:prstGeom>
          <a:solidFill>
            <a:srgbClr val="282A36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cycle complet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8904" y="21945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9050">
            <a:solidFill>
              <a:srgbClr val="F051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8904" y="219456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Organiser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429104" y="2715768"/>
            <a:ext cx="164592" cy="0"/>
          </a:xfrm>
          <a:prstGeom prst="line">
            <a:avLst/>
          </a:prstGeom>
          <a:noFill/>
          <a:ln w="25400">
            <a:solidFill>
              <a:srgbClr val="6E7681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621128" y="21945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9050">
            <a:solidFill>
              <a:srgbClr val="F051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21128" y="2180845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/ clone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21328" y="2715768"/>
            <a:ext cx="164592" cy="0"/>
          </a:xfrm>
          <a:prstGeom prst="line">
            <a:avLst/>
          </a:prstGeom>
          <a:noFill/>
          <a:ln w="25400">
            <a:solidFill>
              <a:srgbClr val="6E7681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413352" y="21945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9050">
            <a:solidFill>
              <a:srgbClr val="F051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13352" y="219456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· commit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13552" y="2715768"/>
            <a:ext cx="164592" cy="0"/>
          </a:xfrm>
          <a:prstGeom prst="line">
            <a:avLst/>
          </a:prstGeom>
          <a:noFill/>
          <a:ln w="25400">
            <a:solidFill>
              <a:srgbClr val="6E768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205576" y="21945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9050">
            <a:solidFill>
              <a:srgbClr val="F051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05576" y="2180845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· merge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805776" y="2715768"/>
            <a:ext cx="164592" cy="0"/>
          </a:xfrm>
          <a:prstGeom prst="line">
            <a:avLst/>
          </a:prstGeom>
          <a:noFill/>
          <a:ln w="25400">
            <a:solidFill>
              <a:srgbClr val="6E768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997800" y="21945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9050">
            <a:solidFill>
              <a:srgbClr val="F051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97800" y="219456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/ pull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598000" y="2715768"/>
            <a:ext cx="164592" cy="0"/>
          </a:xfrm>
          <a:prstGeom prst="line">
            <a:avLst/>
          </a:prstGeom>
          <a:noFill/>
          <a:ln w="25400">
            <a:solidFill>
              <a:srgbClr val="6E768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790024" y="21945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9050">
            <a:solidFill>
              <a:srgbClr val="F051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790024" y="2180845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7490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Organiser  →  Versionner en local  →  Collaborer via des branches  →  Synchroniser avec GitHub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663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</a:t>
            </a:r>
            <a:endParaRPr lang="en-US" sz="1400" dirty="0">
              <a:solidFill>
                <a:srgbClr val="F05133"/>
              </a:solidFill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640080" y="50749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git-scm.com/install — installation de Git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github.com/github/gitignore — modèles de .</a:t>
            </a:r>
            <a:r>
              <a:rPr lang="en-US" sz="130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gitignore</a:t>
            </a:r>
            <a:endParaRPr lang="en-US" sz="1300" dirty="0">
              <a:solidFill>
                <a:srgbClr val="C9D1D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</TotalTime>
  <Words>1634</Words>
  <Application>Microsoft Office PowerPoint</Application>
  <PresentationFormat>Grand écran</PresentationFormat>
  <Paragraphs>368</Paragraphs>
  <Slides>28</Slides>
  <Notes>28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3" baseType="lpstr">
      <vt:lpstr>Arial</vt:lpstr>
      <vt:lpstr>Calibri</vt:lpstr>
      <vt:lpstr>Cambria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Yvan Boiteau</cp:lastModifiedBy>
  <cp:revision>8</cp:revision>
  <dcterms:created xsi:type="dcterms:W3CDTF">2026-09-18T05:58:19Z</dcterms:created>
  <dcterms:modified xsi:type="dcterms:W3CDTF">2026-09-25T07:25:25Z</dcterms:modified>
</cp:coreProperties>
</file>