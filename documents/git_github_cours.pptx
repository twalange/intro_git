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0"/>
  </p:notes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4" r:id="rId9"/>
    <p:sldId id="265" r:id="rId10"/>
    <p:sldId id="267" r:id="rId11"/>
    <p:sldId id="268" r:id="rId12"/>
    <p:sldId id="269" r:id="rId13"/>
    <p:sldId id="270" r:id="rId14"/>
    <p:sldId id="271" r:id="rId15"/>
    <p:sldId id="272" r:id="rId16"/>
    <p:sldId id="273" r:id="rId17"/>
    <p:sldId id="274" r:id="rId18"/>
    <p:sldId id="275" r:id="rId19"/>
    <p:sldId id="276" r:id="rId20"/>
    <p:sldId id="277" r:id="rId21"/>
    <p:sldId id="278" r:id="rId22"/>
    <p:sldId id="279" r:id="rId23"/>
    <p:sldId id="281" r:id="rId24"/>
    <p:sldId id="282" r:id="rId25"/>
    <p:sldId id="283" r:id="rId26"/>
    <p:sldId id="280" r:id="rId27"/>
    <p:sldId id="284" r:id="rId28"/>
    <p:sldId id="285" r:id="rId2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05133"/>
    <a:srgbClr val="0969DA"/>
    <a:srgbClr val="7F7F7F"/>
    <a:srgbClr val="91969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10"/>
  </p:normalViewPr>
  <p:slideViewPr>
    <p:cSldViewPr snapToGrid="0" snapToObjects="1">
      <p:cViewPr varScale="1">
        <p:scale>
          <a:sx n="95" d="100"/>
          <a:sy n="95" d="100"/>
        </p:scale>
        <p:origin x="20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341532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05133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18288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F05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ENSD</a:t>
            </a:r>
            <a:endParaRPr lang="en-US" sz="1400" dirty="0">
              <a:solidFill>
                <a:srgbClr val="F05133"/>
              </a:solidFill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058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Introduction à Git et GitHub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61188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Versionner, collaborer et publier un projet d'analyse de données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40080" y="4754880"/>
            <a:ext cx="2194560" cy="502920"/>
          </a:xfrm>
          <a:prstGeom prst="roundRect">
            <a:avLst>
              <a:gd name="adj" fmla="val 14545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475488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051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init</a:t>
            </a:r>
            <a:endParaRPr lang="en-US" sz="1300" dirty="0">
              <a:solidFill>
                <a:srgbClr val="F05133"/>
              </a:solidFill>
            </a:endParaRPr>
          </a:p>
        </p:txBody>
      </p:sp>
      <p:sp>
        <p:nvSpPr>
          <p:cNvPr id="8" name="Shape 6"/>
          <p:cNvSpPr/>
          <p:nvPr/>
        </p:nvSpPr>
        <p:spPr>
          <a:xfrm>
            <a:off x="3108960" y="4754880"/>
            <a:ext cx="2194560" cy="502920"/>
          </a:xfrm>
          <a:prstGeom prst="roundRect">
            <a:avLst>
              <a:gd name="adj" fmla="val 14545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108960" y="475488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051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commit</a:t>
            </a:r>
            <a:endParaRPr lang="en-US" sz="1300" dirty="0">
              <a:solidFill>
                <a:srgbClr val="F05133"/>
              </a:solidFill>
            </a:endParaRPr>
          </a:p>
        </p:txBody>
      </p:sp>
      <p:sp>
        <p:nvSpPr>
          <p:cNvPr id="10" name="Shape 8"/>
          <p:cNvSpPr/>
          <p:nvPr/>
        </p:nvSpPr>
        <p:spPr>
          <a:xfrm>
            <a:off x="5577840" y="4754880"/>
            <a:ext cx="2194560" cy="502920"/>
          </a:xfrm>
          <a:prstGeom prst="roundRect">
            <a:avLst>
              <a:gd name="adj" fmla="val 14545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577840" y="475488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051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push</a:t>
            </a:r>
            <a:endParaRPr lang="en-US" sz="1300" dirty="0">
              <a:solidFill>
                <a:srgbClr val="F05133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05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DU COURS</a:t>
            </a:r>
            <a:endParaRPr lang="en-US" sz="1200" dirty="0">
              <a:solidFill>
                <a:srgbClr val="F05133"/>
              </a:solidFill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429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étapes, du concept à la pratique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02920" cy="41148"/>
          </a:xfrm>
          <a:prstGeom prst="rect">
            <a:avLst/>
          </a:prstGeom>
          <a:solidFill>
            <a:srgbClr val="F05133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1828800"/>
            <a:ext cx="5212080" cy="1371600"/>
          </a:xfrm>
          <a:prstGeom prst="roundRect">
            <a:avLst>
              <a:gd name="adj" fmla="val 5333"/>
            </a:avLst>
          </a:prstGeom>
          <a:solidFill>
            <a:srgbClr val="F6F8FA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148840"/>
            <a:ext cx="731520" cy="731520"/>
          </a:xfrm>
          <a:prstGeom prst="ellipse">
            <a:avLst/>
          </a:prstGeom>
          <a:solidFill>
            <a:srgbClr val="0D1117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1440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051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828800" y="2029968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Qu'est-ce que Git ?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828800" y="2450592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Histoire, principes, avantages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17920" y="1828800"/>
            <a:ext cx="5212080" cy="1371600"/>
          </a:xfrm>
          <a:prstGeom prst="roundRect">
            <a:avLst>
              <a:gd name="adj" fmla="val 5333"/>
            </a:avLst>
          </a:prstGeom>
          <a:solidFill>
            <a:srgbClr val="F6F8FA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92240" y="2148840"/>
            <a:ext cx="731520" cy="731520"/>
          </a:xfrm>
          <a:prstGeom prst="ellipse">
            <a:avLst/>
          </a:prstGeom>
          <a:solidFill>
            <a:srgbClr val="0D111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9224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051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7406640" y="2029968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Organiser un projet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406640" y="2450592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 de dossiers types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3520440"/>
            <a:ext cx="5212080" cy="1371600"/>
          </a:xfrm>
          <a:prstGeom prst="roundRect">
            <a:avLst>
              <a:gd name="adj" fmla="val 5333"/>
            </a:avLst>
          </a:prstGeom>
          <a:solidFill>
            <a:srgbClr val="F6F8FA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3840480"/>
            <a:ext cx="731520" cy="731520"/>
          </a:xfrm>
          <a:prstGeom prst="ellipse">
            <a:avLst/>
          </a:prstGeom>
          <a:solidFill>
            <a:srgbClr val="0D1117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14400" y="38404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051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1828800" y="3721608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Dépôt local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828800" y="4142232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Init, commit, statuts, stash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217920" y="3520440"/>
            <a:ext cx="5212080" cy="1371600"/>
          </a:xfrm>
          <a:prstGeom prst="roundRect">
            <a:avLst>
              <a:gd name="adj" fmla="val 5333"/>
            </a:avLst>
          </a:prstGeom>
          <a:solidFill>
            <a:srgbClr val="F6F8FA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92240" y="3840480"/>
            <a:ext cx="731520" cy="731520"/>
          </a:xfrm>
          <a:prstGeom prst="ellipse">
            <a:avLst/>
          </a:prstGeom>
          <a:solidFill>
            <a:srgbClr val="0D1117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492240" y="38404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051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7406640" y="3721608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Branches et fusion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7406640" y="4142232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Diverger, fusionner, résoudre les conflits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40080" y="5212080"/>
            <a:ext cx="5212080" cy="1371600"/>
          </a:xfrm>
          <a:prstGeom prst="roundRect">
            <a:avLst>
              <a:gd name="adj" fmla="val 5333"/>
            </a:avLst>
          </a:prstGeom>
          <a:solidFill>
            <a:srgbClr val="F6F8FA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14400" y="5532120"/>
            <a:ext cx="731520" cy="731520"/>
          </a:xfrm>
          <a:prstGeom prst="ellipse">
            <a:avLst/>
          </a:prstGeom>
          <a:solidFill>
            <a:srgbClr val="0D1117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914400" y="55321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051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1828800" y="5413248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Dépôt distant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1828800" y="5833872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GitHub, PAT, push/pull, Pull Requests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217920" y="5212080"/>
            <a:ext cx="5212080" cy="1371600"/>
          </a:xfrm>
          <a:prstGeom prst="roundRect">
            <a:avLst>
              <a:gd name="adj" fmla="val 5333"/>
            </a:avLst>
          </a:prstGeom>
          <a:solidFill>
            <a:srgbClr val="F6F8FA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492240" y="5532120"/>
            <a:ext cx="731520" cy="731520"/>
          </a:xfrm>
          <a:prstGeom prst="ellipse">
            <a:avLst/>
          </a:prstGeom>
          <a:solidFill>
            <a:srgbClr val="0D1117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492240" y="55321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051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2000" dirty="0"/>
          </a:p>
        </p:txBody>
      </p:sp>
      <p:sp>
        <p:nvSpPr>
          <p:cNvPr id="33" name="Text 31"/>
          <p:cNvSpPr txBox="1"/>
          <p:nvPr/>
        </p:nvSpPr>
        <p:spPr>
          <a:xfrm>
            <a:off x="7406640" y="5413248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RStudio &amp; JupyterLab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7406640" y="5833872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Intégration graphique de Git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C95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331720"/>
            <a:ext cx="2103120" cy="2103120"/>
          </a:xfrm>
          <a:prstGeom prst="ellipse">
            <a:avLst/>
          </a:prstGeom>
          <a:solidFill>
            <a:srgbClr val="161B22"/>
          </a:solidFill>
          <a:ln w="25400">
            <a:solidFill>
              <a:srgbClr val="F051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2331720"/>
            <a:ext cx="21031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F051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3383280" y="2651760"/>
            <a:ext cx="8138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Qu'est-ce que Git ?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3383280" y="361188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Origines, principes et avantages d'un outil devenu incontournable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96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HISTOIRE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429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Une courte histoire de Git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02920" cy="41148"/>
          </a:xfrm>
          <a:prstGeom prst="rect">
            <a:avLst/>
          </a:prstGeom>
          <a:solidFill>
            <a:srgbClr val="F05133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2743200"/>
            <a:ext cx="10607040" cy="0"/>
          </a:xfrm>
          <a:prstGeom prst="line">
            <a:avLst/>
          </a:prstGeom>
          <a:noFill/>
          <a:ln w="25400">
            <a:solidFill>
              <a:srgbClr val="D0D7D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865376" y="2642616"/>
            <a:ext cx="201168" cy="201168"/>
          </a:xfrm>
          <a:prstGeom prst="ellipse">
            <a:avLst/>
          </a:prstGeom>
          <a:solidFill>
            <a:srgbClr val="F05133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205740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429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1991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0175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Naissance de Linux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3401568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projet libre, développé par une communauté mondiale.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517136" y="2642616"/>
            <a:ext cx="201168" cy="201168"/>
          </a:xfrm>
          <a:prstGeom prst="ellipse">
            <a:avLst/>
          </a:prstGeom>
          <a:solidFill>
            <a:srgbClr val="F05133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383280" y="205740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429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2002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30175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BitKeeper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3383280" y="3401568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noyau Linux adopte un outil de gestion de versions distribué.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168896" y="2642616"/>
            <a:ext cx="201168" cy="201168"/>
          </a:xfrm>
          <a:prstGeom prst="ellipse">
            <a:avLst/>
          </a:prstGeom>
          <a:solidFill>
            <a:srgbClr val="F05133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035040" y="205740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429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2005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6035040" y="30175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Rupture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0" y="3401568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L'usage gratuit de BitKeeper est retiré à la communauté.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9820656" y="2642616"/>
            <a:ext cx="201168" cy="201168"/>
          </a:xfrm>
          <a:prstGeom prst="ellipse">
            <a:avLst/>
          </a:prstGeom>
          <a:solidFill>
            <a:srgbClr val="F05133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86800" y="205740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2005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8686800" y="30175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Naissance de Git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8686800" y="3401568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Linus Torvalds crée Git : rapide, distribué, taillé pour de gros projets.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56692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enquête Stack Overflow (2022) indiquait que Git était utilisé par 94 % des répondants utilisant un système de gestion de versions.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C95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05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MOTIVATION</a:t>
            </a:r>
            <a:endParaRPr lang="en-US" sz="1200" dirty="0">
              <a:solidFill>
                <a:srgbClr val="F05133"/>
              </a:solidFill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429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problème que Git résout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02920" cy="41148"/>
          </a:xfrm>
          <a:prstGeom prst="rect">
            <a:avLst/>
          </a:prstGeom>
          <a:solidFill>
            <a:srgbClr val="F05133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1920240"/>
            <a:ext cx="4937760" cy="3931920"/>
          </a:xfrm>
          <a:prstGeom prst="roundRect">
            <a:avLst>
              <a:gd name="adj" fmla="val 1860"/>
            </a:avLst>
          </a:prstGeom>
          <a:solidFill>
            <a:srgbClr val="FFF1F0"/>
          </a:solidFill>
          <a:ln w="12700">
            <a:solidFill>
              <a:srgbClr val="FFCCC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60120" y="214884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F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Sans Git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960120" y="2606040"/>
            <a:ext cx="4297680" cy="1371600"/>
          </a:xfrm>
          <a:prstGeom prst="roundRect">
            <a:avLst>
              <a:gd name="adj" fmla="val 4000"/>
            </a:avLst>
          </a:prstGeom>
          <a:solidFill>
            <a:srgbClr val="161B2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188720" y="2770632"/>
            <a:ext cx="384048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25000"/>
              </a:lnSpc>
            </a:pPr>
            <a:r>
              <a:rPr lang="en-US" sz="14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questionnaire_v12.xlsx</a:t>
            </a:r>
          </a:p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questionnaire_v13_finale.xlsx</a:t>
            </a:r>
          </a:p>
          <a:p>
            <a:pPr>
              <a:lnSpc>
                <a:spcPct val="125000"/>
              </a:lnSpc>
            </a:pPr>
            <a:r>
              <a:rPr lang="en-US" sz="14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questionnaire_v14.xlsx</a:t>
            </a:r>
          </a:p>
          <a:p>
            <a:pPr marL="0" indent="0">
              <a:lnSpc>
                <a:spcPct val="125000"/>
              </a:lnSpc>
              <a:buNone/>
            </a:pPr>
            <a:endParaRPr lang="en-US" sz="1400" dirty="0">
              <a:solidFill>
                <a:srgbClr val="C9D1D9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  <a:p>
            <a:pPr marL="0" indent="0">
              <a:lnSpc>
                <a:spcPct val="125000"/>
              </a:lnSpc>
              <a:buNone/>
            </a:pP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4160520"/>
            <a:ext cx="4297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8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Quelle est la dernière version ?</a:t>
            </a:r>
            <a:endParaRPr lang="en-US" sz="13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8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 a modifié quoi, et pourquoi ?</a:t>
            </a:r>
            <a:endParaRPr lang="en-US" sz="13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8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revenir en </a:t>
            </a:r>
            <a:r>
              <a:rPr lang="en-US" sz="1300" dirty="0" err="1">
                <a:solidFill>
                  <a:srgbClr val="8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arrière</a:t>
            </a:r>
            <a:r>
              <a:rPr lang="en-US" sz="1300" dirty="0">
                <a:solidFill>
                  <a:srgbClr val="8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?</a:t>
            </a:r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8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</a:t>
            </a:r>
            <a:r>
              <a:rPr lang="en-US" sz="1300" dirty="0" err="1">
                <a:solidFill>
                  <a:srgbClr val="8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</a:t>
            </a:r>
            <a:r>
              <a:rPr lang="en-US" sz="1300" dirty="0">
                <a:solidFill>
                  <a:srgbClr val="8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il </a:t>
            </a:r>
            <a:r>
              <a:rPr lang="en-US" sz="1300" dirty="0" err="1">
                <a:solidFill>
                  <a:srgbClr val="8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y’a</a:t>
            </a:r>
            <a:r>
              <a:rPr lang="en-US" sz="1300" dirty="0">
                <a:solidFill>
                  <a:srgbClr val="8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16x le </a:t>
            </a:r>
            <a:r>
              <a:rPr lang="en-US" sz="1300" dirty="0" err="1">
                <a:solidFill>
                  <a:srgbClr val="8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même</a:t>
            </a:r>
            <a:r>
              <a:rPr lang="en-US" sz="1300" dirty="0">
                <a:solidFill>
                  <a:srgbClr val="8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8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fichier</a:t>
            </a:r>
            <a:r>
              <a:rPr lang="en-US" sz="1300" dirty="0">
                <a:solidFill>
                  <a:srgbClr val="8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dans le </a:t>
            </a:r>
            <a:r>
              <a:rPr lang="en-US" sz="1300" dirty="0" err="1">
                <a:solidFill>
                  <a:srgbClr val="8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</a:t>
            </a:r>
            <a:r>
              <a:rPr lang="en-US" sz="1300" dirty="0">
                <a:solidFill>
                  <a:srgbClr val="8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???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989320" y="1920240"/>
            <a:ext cx="4937760" cy="3931920"/>
          </a:xfrm>
          <a:prstGeom prst="roundRect">
            <a:avLst>
              <a:gd name="adj" fmla="val 1860"/>
            </a:avLst>
          </a:prstGeom>
          <a:solidFill>
            <a:srgbClr val="F0F9F2"/>
          </a:solidFill>
          <a:ln w="12700">
            <a:solidFill>
              <a:srgbClr val="BEE6C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09360" y="214884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7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Avec Git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309360" y="2606040"/>
            <a:ext cx="4297680" cy="1371600"/>
          </a:xfrm>
          <a:prstGeom prst="roundRect">
            <a:avLst>
              <a:gd name="adj" fmla="val 4000"/>
            </a:avLst>
          </a:prstGeom>
          <a:solidFill>
            <a:srgbClr val="161B2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37960" y="2770632"/>
            <a:ext cx="384048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Commit 1: Création du projet</a:t>
            </a:r>
            <a:endParaRPr lang="en-US" sz="13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Commit 2: Ajout du nettoyage</a:t>
            </a:r>
            <a:endParaRPr lang="en-US" sz="13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Commit 3: Ajout de l'analyse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6309360" y="4160520"/>
            <a:ext cx="4297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E4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historique unique, daté et </a:t>
            </a:r>
            <a:r>
              <a:rPr lang="en-US" sz="1300" dirty="0" err="1">
                <a:solidFill>
                  <a:srgbClr val="2E4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attribué</a:t>
            </a:r>
            <a:r>
              <a:rPr lang="en-US" sz="1300" dirty="0">
                <a:solidFill>
                  <a:srgbClr val="2E4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E4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Retour possible à n'importe </a:t>
            </a:r>
            <a:r>
              <a:rPr lang="en-US" sz="1300" dirty="0" err="1">
                <a:solidFill>
                  <a:srgbClr val="2E4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</a:t>
            </a:r>
            <a:r>
              <a:rPr lang="en-US" sz="1300" dirty="0">
                <a:solidFill>
                  <a:srgbClr val="2E4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état.</a:t>
            </a:r>
            <a:endParaRPr lang="en-US" sz="13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E4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Traçabilité complète du </a:t>
            </a:r>
            <a:r>
              <a:rPr lang="en-US" sz="1300" dirty="0" err="1">
                <a:solidFill>
                  <a:srgbClr val="2E4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</a:t>
            </a:r>
            <a:r>
              <a:rPr lang="en-US" sz="1300" dirty="0">
                <a:solidFill>
                  <a:srgbClr val="2E4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E4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</a:t>
            </a:r>
            <a:r>
              <a:rPr lang="en-US" sz="1300" dirty="0" err="1">
                <a:solidFill>
                  <a:srgbClr val="2E4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fichiers</a:t>
            </a:r>
            <a:r>
              <a:rPr lang="en-US" sz="1300" dirty="0">
                <a:solidFill>
                  <a:srgbClr val="2E4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E4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restent</a:t>
            </a:r>
            <a:r>
              <a:rPr lang="en-US" sz="1300" dirty="0">
                <a:solidFill>
                  <a:srgbClr val="2E4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E4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uniques</a:t>
            </a:r>
            <a:r>
              <a:rPr lang="en-US" sz="1300" dirty="0">
                <a:solidFill>
                  <a:srgbClr val="2E4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C95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05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PRINCIPE</a:t>
            </a:r>
            <a:endParaRPr lang="en-US" sz="1200" dirty="0">
              <a:solidFill>
                <a:srgbClr val="F05133"/>
              </a:solidFill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429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principe de base : </a:t>
            </a:r>
            <a:r>
              <a:rPr lang="en-US" sz="3000" b="1" dirty="0">
                <a:solidFill>
                  <a:srgbClr val="F051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commit</a:t>
            </a:r>
            <a:endParaRPr lang="en-US" sz="3000" dirty="0">
              <a:solidFill>
                <a:srgbClr val="F05133"/>
              </a:solidFill>
            </a:endParaRPr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02920" cy="41148"/>
          </a:xfrm>
          <a:prstGeom prst="rect">
            <a:avLst/>
          </a:prstGeom>
          <a:solidFill>
            <a:srgbClr val="F05133"/>
          </a:solidFill>
          <a:ln/>
        </p:spPr>
      </p:sp>
      <p:sp>
        <p:nvSpPr>
          <p:cNvPr id="5" name="Shape 3"/>
          <p:cNvSpPr/>
          <p:nvPr/>
        </p:nvSpPr>
        <p:spPr>
          <a:xfrm>
            <a:off x="769468" y="2834640"/>
            <a:ext cx="2286000" cy="1371600"/>
          </a:xfrm>
          <a:prstGeom prst="roundRect">
            <a:avLst>
              <a:gd name="adj" fmla="val 6667"/>
            </a:avLst>
          </a:prstGeom>
          <a:solidFill>
            <a:srgbClr val="F6F8FA"/>
          </a:solidFill>
          <a:ln w="19050">
            <a:solidFill>
              <a:srgbClr val="D0D7D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69468" y="283464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modifie</a:t>
            </a:r>
            <a:endParaRPr lang="en-US" sz="1350" dirty="0"/>
          </a:p>
          <a:p>
            <a:pPr marL="0" indent="0" algn="ctr">
              <a:buNone/>
            </a:pPr>
            <a:r>
              <a:rPr lang="en-US" sz="1350" b="1" dirty="0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 fichiers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3110332" y="3520440"/>
            <a:ext cx="393192" cy="0"/>
          </a:xfrm>
          <a:prstGeom prst="line">
            <a:avLst/>
          </a:prstGeom>
          <a:noFill/>
          <a:ln w="25400">
            <a:solidFill>
              <a:srgbClr val="F05133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3558388" y="2834640"/>
            <a:ext cx="2286000" cy="1371600"/>
          </a:xfrm>
          <a:prstGeom prst="roundRect">
            <a:avLst>
              <a:gd name="adj" fmla="val 6667"/>
            </a:avLst>
          </a:prstGeom>
          <a:solidFill>
            <a:srgbClr val="F6F8FA"/>
          </a:solidFill>
          <a:ln w="19050">
            <a:solidFill>
              <a:srgbClr val="D0D7D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558388" y="283464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sélectionne</a:t>
            </a:r>
            <a:endParaRPr lang="en-US" sz="1350" dirty="0"/>
          </a:p>
          <a:p>
            <a:pPr marL="0" indent="0" algn="ctr">
              <a:buNone/>
            </a:pPr>
            <a:r>
              <a:rPr lang="en-US" sz="1350" b="1" dirty="0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changements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899252" y="3520440"/>
            <a:ext cx="393192" cy="0"/>
          </a:xfrm>
          <a:prstGeom prst="line">
            <a:avLst/>
          </a:prstGeom>
          <a:noFill/>
          <a:ln w="25400">
            <a:solidFill>
              <a:srgbClr val="F05133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6347308" y="2834640"/>
            <a:ext cx="2286000" cy="1371600"/>
          </a:xfrm>
          <a:prstGeom prst="roundRect">
            <a:avLst>
              <a:gd name="adj" fmla="val 6667"/>
            </a:avLst>
          </a:prstGeom>
          <a:solidFill>
            <a:srgbClr val="F6F8FA"/>
          </a:solidFill>
          <a:ln w="19050">
            <a:solidFill>
              <a:srgbClr val="D0D7D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47308" y="283464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crée</a:t>
            </a:r>
            <a:endParaRPr lang="en-US" sz="1350" dirty="0"/>
          </a:p>
          <a:p>
            <a:pPr marL="0" indent="0" algn="ctr">
              <a:buNone/>
            </a:pPr>
            <a:r>
              <a:rPr lang="en-US" sz="1350" b="1" dirty="0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commit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8688172" y="3520440"/>
            <a:ext cx="393192" cy="0"/>
          </a:xfrm>
          <a:prstGeom prst="line">
            <a:avLst/>
          </a:prstGeom>
          <a:noFill/>
          <a:ln w="25400">
            <a:solidFill>
              <a:srgbClr val="F05133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9136228" y="2834640"/>
            <a:ext cx="2286000" cy="1371600"/>
          </a:xfrm>
          <a:prstGeom prst="roundRect">
            <a:avLst>
              <a:gd name="adj" fmla="val 6667"/>
            </a:avLst>
          </a:prstGeom>
          <a:solidFill>
            <a:srgbClr val="0D1117"/>
          </a:solidFill>
          <a:ln w="19050">
            <a:solidFill>
              <a:srgbClr val="0D111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36228" y="283464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enregistre</a:t>
            </a:r>
            <a:endParaRPr lang="en-US" sz="1350" dirty="0"/>
          </a:p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nouvelle version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493776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commit est relié au précédent : Git peut ainsi reconstituer tout l'historique du projet.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C95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hape 8">
            <a:extLst>
              <a:ext uri="{FF2B5EF4-FFF2-40B4-BE49-F238E27FC236}">
                <a16:creationId xmlns:a16="http://schemas.microsoft.com/office/drawing/2014/main" id="{85C1EAAB-7D73-8EB8-F322-053CF4F90824}"/>
              </a:ext>
            </a:extLst>
          </p:cNvPr>
          <p:cNvSpPr/>
          <p:nvPr/>
        </p:nvSpPr>
        <p:spPr>
          <a:xfrm>
            <a:off x="6184061" y="5203281"/>
            <a:ext cx="1314666" cy="365760"/>
          </a:xfrm>
          <a:prstGeom prst="roundRect">
            <a:avLst>
              <a:gd name="adj" fmla="val 14545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3" name="Shape 8">
            <a:extLst>
              <a:ext uri="{FF2B5EF4-FFF2-40B4-BE49-F238E27FC236}">
                <a16:creationId xmlns:a16="http://schemas.microsoft.com/office/drawing/2014/main" id="{6C75632C-988A-7211-8CEB-2857E5E2319A}"/>
              </a:ext>
            </a:extLst>
          </p:cNvPr>
          <p:cNvSpPr/>
          <p:nvPr/>
        </p:nvSpPr>
        <p:spPr>
          <a:xfrm>
            <a:off x="4206240" y="4137661"/>
            <a:ext cx="1314666" cy="365760"/>
          </a:xfrm>
          <a:prstGeom prst="roundRect">
            <a:avLst>
              <a:gd name="adj" fmla="val 14545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" name="Text 0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05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DISTINCTION</a:t>
            </a:r>
            <a:endParaRPr lang="en-US" sz="1200" dirty="0">
              <a:solidFill>
                <a:srgbClr val="F05133"/>
              </a:solidFill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429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 n'est pas GitHub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02920" cy="41148"/>
          </a:xfrm>
          <a:prstGeom prst="rect">
            <a:avLst/>
          </a:prstGeom>
          <a:solidFill>
            <a:srgbClr val="F05133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1965960"/>
            <a:ext cx="4937760" cy="1554480"/>
          </a:xfrm>
          <a:prstGeom prst="roundRect">
            <a:avLst>
              <a:gd name="adj" fmla="val 4706"/>
            </a:avLst>
          </a:prstGeom>
          <a:solidFill>
            <a:srgbClr val="0D111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60120" y="214884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2560320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logiciel qui gère l'historique des versions d'un projet, en local.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989320" y="1965960"/>
            <a:ext cx="4937760" cy="1554480"/>
          </a:xfrm>
          <a:prstGeom prst="roundRect">
            <a:avLst>
              <a:gd name="adj" fmla="val 4706"/>
            </a:avLst>
          </a:prstGeom>
          <a:solidFill>
            <a:srgbClr val="F0513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309360" y="214884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GitHub (ou GitLab)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560320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AF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service en ligne pour héberger des dépôts Git à distance et collaborer.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4114800"/>
            <a:ext cx="3291840" cy="1463040"/>
          </a:xfrm>
          <a:prstGeom prst="roundRect">
            <a:avLst>
              <a:gd name="adj" fmla="val 5000"/>
            </a:avLst>
          </a:prstGeom>
          <a:solidFill>
            <a:srgbClr val="F6F8FA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4114800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Ordinateur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(dépôt local)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680960" y="4114800"/>
            <a:ext cx="3291840" cy="1463040"/>
          </a:xfrm>
          <a:prstGeom prst="roundRect">
            <a:avLst>
              <a:gd name="adj" fmla="val 5000"/>
            </a:avLst>
          </a:prstGeom>
          <a:solidFill>
            <a:srgbClr val="F6F8FA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680960" y="4114800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(dépôt distant)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206240" y="4617720"/>
            <a:ext cx="3383280" cy="0"/>
          </a:xfrm>
          <a:prstGeom prst="line">
            <a:avLst/>
          </a:prstGeom>
          <a:noFill/>
          <a:ln w="25400">
            <a:solidFill>
              <a:srgbClr val="F05133"/>
            </a:solidFill>
            <a:prstDash val="solid"/>
            <a:tailEnd type="triangle"/>
          </a:ln>
        </p:spPr>
      </p:sp>
      <p:sp>
        <p:nvSpPr>
          <p:cNvPr id="16" name="Text 14"/>
          <p:cNvSpPr txBox="1"/>
          <p:nvPr/>
        </p:nvSpPr>
        <p:spPr>
          <a:xfrm>
            <a:off x="4195026" y="4183381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051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push</a:t>
            </a:r>
            <a:endParaRPr lang="en-US" sz="1200" dirty="0">
              <a:solidFill>
                <a:srgbClr val="F05133"/>
              </a:solidFill>
            </a:endParaRPr>
          </a:p>
        </p:txBody>
      </p:sp>
      <p:sp>
        <p:nvSpPr>
          <p:cNvPr id="18" name="Text 16"/>
          <p:cNvSpPr txBox="1"/>
          <p:nvPr/>
        </p:nvSpPr>
        <p:spPr>
          <a:xfrm>
            <a:off x="6320143" y="5249001"/>
            <a:ext cx="10425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969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pull</a:t>
            </a:r>
            <a:endParaRPr lang="en-US" sz="1200" dirty="0">
              <a:solidFill>
                <a:srgbClr val="0969DA"/>
              </a:solidFill>
            </a:endParaRPr>
          </a:p>
        </p:txBody>
      </p:sp>
      <p:sp>
        <p:nvSpPr>
          <p:cNvPr id="19" name="Text 17"/>
          <p:cNvSpPr txBox="1"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C95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  <p:sp>
        <p:nvSpPr>
          <p:cNvPr id="20" name="Shape 13">
            <a:extLst>
              <a:ext uri="{FF2B5EF4-FFF2-40B4-BE49-F238E27FC236}">
                <a16:creationId xmlns:a16="http://schemas.microsoft.com/office/drawing/2014/main" id="{20F119D8-F16F-5D19-753C-591F164E18B5}"/>
              </a:ext>
            </a:extLst>
          </p:cNvPr>
          <p:cNvSpPr/>
          <p:nvPr/>
        </p:nvSpPr>
        <p:spPr>
          <a:xfrm flipH="1" flipV="1">
            <a:off x="4206240" y="5063702"/>
            <a:ext cx="3383280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331720"/>
            <a:ext cx="2103120" cy="2103120"/>
          </a:xfrm>
          <a:prstGeom prst="ellipse">
            <a:avLst/>
          </a:prstGeom>
          <a:solidFill>
            <a:srgbClr val="161B22"/>
          </a:solidFill>
          <a:ln w="25400">
            <a:solidFill>
              <a:srgbClr val="F051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2331720"/>
            <a:ext cx="21031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F051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3383280" y="2651760"/>
            <a:ext cx="8138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Organiser un projet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3383280" y="361188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structure cohérente, prévisible et compréhensible par d'autres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05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STRUCTURE</a:t>
            </a:r>
            <a:endParaRPr lang="en-US" sz="1200" dirty="0">
              <a:solidFill>
                <a:srgbClr val="F05133"/>
              </a:solidFill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429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Une arborescence type pour un projet en 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02920" cy="41148"/>
          </a:xfrm>
          <a:prstGeom prst="rect">
            <a:avLst/>
          </a:prstGeom>
          <a:solidFill>
            <a:srgbClr val="F05133"/>
          </a:solidFill>
          <a:ln/>
        </p:spPr>
      </p:sp>
      <p:sp>
        <p:nvSpPr>
          <p:cNvPr id="5" name="Shape 3"/>
          <p:cNvSpPr/>
          <p:nvPr/>
        </p:nvSpPr>
        <p:spPr>
          <a:xfrm>
            <a:off x="2975250" y="1725282"/>
            <a:ext cx="5669280" cy="4124806"/>
          </a:xfrm>
          <a:prstGeom prst="roundRect">
            <a:avLst>
              <a:gd name="adj" fmla="val 1304"/>
            </a:avLst>
          </a:prstGeom>
          <a:solidFill>
            <a:srgbClr val="161B2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154680" y="1842946"/>
            <a:ext cx="5212080" cy="3877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mon-projet/</a:t>
            </a:r>
            <a:endParaRPr lang="en-US" sz="13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README.md</a:t>
            </a:r>
            <a:endParaRPr lang="en-US" sz="13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.gitignore</a:t>
            </a:r>
            <a:endParaRPr lang="en-US" sz="13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.Rprofile / .Rhistory</a:t>
            </a:r>
            <a:endParaRPr lang="en-US" sz="13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</a:t>
            </a:r>
            <a:endParaRPr lang="en-US" sz="13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data/</a:t>
            </a:r>
            <a:endParaRPr lang="en-US" sz="13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raw/       # jamais modifié</a:t>
            </a:r>
            <a:endParaRPr lang="en-US" sz="13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└── clean/     # données transformées</a:t>
            </a:r>
            <a:endParaRPr lang="en-US" sz="13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</a:t>
            </a:r>
            <a:endParaRPr lang="en-US" sz="13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scripts/       # nettoyage, recodage</a:t>
            </a:r>
            <a:endParaRPr lang="en-US" sz="13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notebooks/     # code + texte</a:t>
            </a:r>
            <a:endParaRPr lang="en-US" sz="13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results/</a:t>
            </a:r>
            <a:endParaRPr lang="en-US" sz="13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figures/</a:t>
            </a:r>
            <a:endParaRPr lang="en-US" sz="13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└── tables/</a:t>
            </a:r>
            <a:endParaRPr lang="en-US" sz="13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 docs/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C95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10" name="Text 17">
            <a:extLst>
              <a:ext uri="{FF2B5EF4-FFF2-40B4-BE49-F238E27FC236}">
                <a16:creationId xmlns:a16="http://schemas.microsoft.com/office/drawing/2014/main" id="{BCCE45CC-7545-D4B5-8F53-6DB20F41287E}"/>
              </a:ext>
            </a:extLst>
          </p:cNvPr>
          <p:cNvSpPr txBox="1"/>
          <p:nvPr/>
        </p:nvSpPr>
        <p:spPr>
          <a:xfrm>
            <a:off x="594360" y="5968099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Ceci </a:t>
            </a:r>
            <a:r>
              <a:rPr lang="en-US" sz="1300" i="1" dirty="0" err="1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</a:t>
            </a:r>
            <a:r>
              <a:rPr lang="en-US" sz="1300" i="1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un </a:t>
            </a:r>
            <a:r>
              <a:rPr lang="en-US" sz="1300" i="1" dirty="0" err="1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exemple</a:t>
            </a:r>
            <a:r>
              <a:rPr lang="en-US" sz="1300" i="1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il </a:t>
            </a:r>
            <a:r>
              <a:rPr lang="en-US" sz="1300" i="1" dirty="0" err="1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n’y</a:t>
            </a:r>
            <a:r>
              <a:rPr lang="en-US" sz="1300" i="1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pas de </a:t>
            </a:r>
            <a:r>
              <a:rPr lang="en-US" sz="1300" i="1" dirty="0" err="1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règles</a:t>
            </a:r>
            <a:r>
              <a:rPr lang="en-US" sz="1300" i="1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absolues</a:t>
            </a:r>
            <a:r>
              <a:rPr lang="en-US" sz="1300" i="1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</a:t>
            </a:r>
            <a:r>
              <a:rPr lang="en-US" sz="1300" i="1" dirty="0" err="1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Gardez</a:t>
            </a:r>
            <a:r>
              <a:rPr lang="en-US" sz="1300" i="1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</a:t>
            </a:r>
            <a:r>
              <a:rPr lang="en-US" sz="1300" i="1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organization </a:t>
            </a:r>
            <a:r>
              <a:rPr lang="en-US" sz="1300" i="1" dirty="0" err="1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claire</a:t>
            </a:r>
            <a:r>
              <a:rPr lang="en-US" sz="1300" i="1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et intuitive.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331720"/>
            <a:ext cx="2103120" cy="2103120"/>
          </a:xfrm>
          <a:prstGeom prst="ellipse">
            <a:avLst/>
          </a:prstGeom>
          <a:solidFill>
            <a:srgbClr val="161B22"/>
          </a:solidFill>
          <a:ln w="25400">
            <a:solidFill>
              <a:srgbClr val="F051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2331720"/>
            <a:ext cx="21031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F051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3383280" y="2651760"/>
            <a:ext cx="8138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dépôt Git et le cycle local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3383280" y="361188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Installer, initialiser, commiter : le travail au quotidien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05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MISE EN ROUTE</a:t>
            </a:r>
            <a:endParaRPr lang="en-US" sz="1200" dirty="0">
              <a:solidFill>
                <a:srgbClr val="F05133"/>
              </a:solidFill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429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Installer et configurer Git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02920" cy="41148"/>
          </a:xfrm>
          <a:prstGeom prst="rect">
            <a:avLst/>
          </a:prstGeom>
          <a:solidFill>
            <a:srgbClr val="F05133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1965960"/>
            <a:ext cx="548640" cy="548640"/>
          </a:xfrm>
          <a:prstGeom prst="ellipse">
            <a:avLst/>
          </a:prstGeom>
          <a:solidFill>
            <a:srgbClr val="F05133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371600" y="194767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Installer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31343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760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git-scm.com/install ou conda install git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2926080"/>
            <a:ext cx="548640" cy="548640"/>
          </a:xfrm>
          <a:prstGeom prst="ellipse">
            <a:avLst/>
          </a:prstGeom>
          <a:solidFill>
            <a:srgbClr val="F0513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371600" y="290779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Vérifier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27355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760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--version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3886200"/>
            <a:ext cx="548640" cy="548640"/>
          </a:xfrm>
          <a:prstGeom prst="ellipse">
            <a:avLst/>
          </a:prstGeom>
          <a:solidFill>
            <a:srgbClr val="F05133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371600" y="386791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Configurer son identité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371600" y="423367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760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voir ci-dessous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309360" y="1965960"/>
            <a:ext cx="5120640" cy="2926080"/>
          </a:xfrm>
          <a:prstGeom prst="roundRect">
            <a:avLst>
              <a:gd name="adj" fmla="val 1875"/>
            </a:avLst>
          </a:prstGeom>
          <a:solidFill>
            <a:srgbClr val="161B2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537960" y="2130552"/>
            <a:ext cx="4663440" cy="2596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config --global 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user.name "Prénom Nom"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config --global 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user.email "email@example.com"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config --global 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init.defaultBranch "main"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530352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--global applique cette configuration à tous les dépôts de l'ordinateur.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C95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21" name="Text 4">
            <a:extLst>
              <a:ext uri="{FF2B5EF4-FFF2-40B4-BE49-F238E27FC236}">
                <a16:creationId xmlns:a16="http://schemas.microsoft.com/office/drawing/2014/main" id="{82BC380B-2662-D8AF-4263-F210FB17516A}"/>
              </a:ext>
            </a:extLst>
          </p:cNvPr>
          <p:cNvSpPr txBox="1"/>
          <p:nvPr/>
        </p:nvSpPr>
        <p:spPr>
          <a:xfrm>
            <a:off x="640080" y="1965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22" name="Text 8">
            <a:extLst>
              <a:ext uri="{FF2B5EF4-FFF2-40B4-BE49-F238E27FC236}">
                <a16:creationId xmlns:a16="http://schemas.microsoft.com/office/drawing/2014/main" id="{9C62D887-F780-130D-F4E0-84F5BE3EE196}"/>
              </a:ext>
            </a:extLst>
          </p:cNvPr>
          <p:cNvSpPr txBox="1"/>
          <p:nvPr/>
        </p:nvSpPr>
        <p:spPr>
          <a:xfrm>
            <a:off x="640080" y="2926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23" name="Text 12">
            <a:extLst>
              <a:ext uri="{FF2B5EF4-FFF2-40B4-BE49-F238E27FC236}">
                <a16:creationId xmlns:a16="http://schemas.microsoft.com/office/drawing/2014/main" id="{845E98AB-EF99-3BCF-20B8-77E40D59E5EA}"/>
              </a:ext>
            </a:extLst>
          </p:cNvPr>
          <p:cNvSpPr txBox="1"/>
          <p:nvPr/>
        </p:nvSpPr>
        <p:spPr>
          <a:xfrm>
            <a:off x="640080" y="3886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05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INITIALISATION</a:t>
            </a:r>
            <a:endParaRPr lang="en-US" sz="1200" dirty="0">
              <a:solidFill>
                <a:srgbClr val="F05133"/>
              </a:solidFill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429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 init : créer un dépôt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02920" cy="41148"/>
          </a:xfrm>
          <a:prstGeom prst="rect">
            <a:avLst/>
          </a:prstGeom>
          <a:solidFill>
            <a:srgbClr val="F05133"/>
          </a:solidFill>
          <a:ln/>
        </p:spPr>
      </p:sp>
      <p:sp>
        <p:nvSpPr>
          <p:cNvPr id="5" name="Shape 3"/>
          <p:cNvSpPr/>
          <p:nvPr/>
        </p:nvSpPr>
        <p:spPr>
          <a:xfrm>
            <a:off x="708085" y="3083772"/>
            <a:ext cx="4114800" cy="640080"/>
          </a:xfrm>
          <a:prstGeom prst="roundRect">
            <a:avLst>
              <a:gd name="adj" fmla="val 8571"/>
            </a:avLst>
          </a:prstGeom>
          <a:solidFill>
            <a:srgbClr val="161B2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36685" y="324836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git init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102525" y="3403812"/>
            <a:ext cx="1466203" cy="0"/>
          </a:xfrm>
          <a:prstGeom prst="line">
            <a:avLst/>
          </a:prstGeom>
          <a:noFill/>
          <a:ln w="25400">
            <a:solidFill>
              <a:srgbClr val="F05133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6933895" y="2214229"/>
            <a:ext cx="4114800" cy="2377440"/>
          </a:xfrm>
          <a:prstGeom prst="roundRect">
            <a:avLst>
              <a:gd name="adj" fmla="val 2308"/>
            </a:avLst>
          </a:prstGeom>
          <a:solidFill>
            <a:srgbClr val="161B2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62495" y="2378821"/>
            <a:ext cx="3657600" cy="2048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mon-projet/</a:t>
            </a:r>
            <a:endParaRPr lang="en-US" sz="14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.git/      ← nouveau</a:t>
            </a:r>
            <a:endParaRPr lang="en-US" sz="14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data/</a:t>
            </a:r>
            <a:endParaRPr lang="en-US" sz="14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notebooks/</a:t>
            </a:r>
            <a:endParaRPr lang="en-US" sz="14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 README.md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C95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12" name="Text 17">
            <a:extLst>
              <a:ext uri="{FF2B5EF4-FFF2-40B4-BE49-F238E27FC236}">
                <a16:creationId xmlns:a16="http://schemas.microsoft.com/office/drawing/2014/main" id="{E4C811FE-15E2-ED3E-827A-967AA4F0224C}"/>
              </a:ext>
            </a:extLst>
          </p:cNvPr>
          <p:cNvSpPr txBox="1"/>
          <p:nvPr/>
        </p:nvSpPr>
        <p:spPr>
          <a:xfrm>
            <a:off x="640080" y="5417736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/!\ Ne </a:t>
            </a:r>
            <a:r>
              <a:rPr lang="en-US" sz="1300" i="1" dirty="0" err="1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modifiez</a:t>
            </a:r>
            <a:r>
              <a:rPr lang="en-US" sz="1300" i="1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jamais </a:t>
            </a:r>
            <a:r>
              <a:rPr lang="en-US" sz="1300" i="1" dirty="0" err="1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manuellement</a:t>
            </a:r>
            <a:r>
              <a:rPr lang="en-US" sz="1300" i="1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 </a:t>
            </a:r>
            <a:r>
              <a:rPr lang="en-US" sz="1300" i="1" dirty="0" err="1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contenu</a:t>
            </a:r>
            <a:r>
              <a:rPr lang="en-US" sz="1300" i="1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du dossier .git/.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05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BONNES PRATIQUES</a:t>
            </a:r>
            <a:endParaRPr lang="en-US" sz="1200" dirty="0">
              <a:solidFill>
                <a:srgbClr val="F05133"/>
              </a:solidFill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429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README.md et .gitignore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02920" cy="41148"/>
          </a:xfrm>
          <a:prstGeom prst="rect">
            <a:avLst/>
          </a:prstGeom>
          <a:solidFill>
            <a:srgbClr val="F05133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1965960"/>
            <a:ext cx="5029200" cy="3600666"/>
          </a:xfrm>
          <a:prstGeom prst="roundRect">
            <a:avLst>
              <a:gd name="adj" fmla="val 1860"/>
            </a:avLst>
          </a:prstGeom>
          <a:solidFill>
            <a:srgbClr val="F6F8FA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21945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README.md</a:t>
            </a:r>
            <a:endParaRPr lang="en-US" sz="1600" dirty="0">
              <a:solidFill>
                <a:schemeClr val="accent2"/>
              </a:solidFill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914400" y="2697480"/>
            <a:ext cx="4480560" cy="18917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point d'entrée du projet</a:t>
            </a:r>
            <a:endParaRPr lang="en-US" sz="135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sujet et la question de recherche</a:t>
            </a:r>
            <a:endParaRPr lang="en-US" sz="135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données </a:t>
            </a:r>
            <a:r>
              <a:rPr lang="en-US" sz="1350" dirty="0" err="1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utilisées</a:t>
            </a:r>
            <a:endParaRPr lang="en-US" sz="1350" dirty="0">
              <a:solidFill>
                <a:srgbClr val="24292F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350" dirty="0" err="1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L'organisation</a:t>
            </a:r>
            <a:r>
              <a:rPr lang="en-US" sz="1350" dirty="0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du </a:t>
            </a:r>
            <a:r>
              <a:rPr lang="en-US" sz="1350" dirty="0" err="1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</a:t>
            </a:r>
            <a:endParaRPr lang="en-US" sz="135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reproduire les résultats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309360" y="1965960"/>
            <a:ext cx="5029200" cy="3600666"/>
          </a:xfrm>
          <a:prstGeom prst="roundRect">
            <a:avLst>
              <a:gd name="adj" fmla="val 1860"/>
            </a:avLst>
          </a:prstGeom>
          <a:solidFill>
            <a:srgbClr val="0D111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83680" y="21945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.gitignore</a:t>
            </a:r>
            <a:endParaRPr lang="en-US" sz="1600" dirty="0">
              <a:solidFill>
                <a:schemeClr val="accent2"/>
              </a:solidFill>
            </a:endParaRPr>
          </a:p>
        </p:txBody>
      </p:sp>
      <p:sp>
        <p:nvSpPr>
          <p:cNvPr id="10" name="Shape 8"/>
          <p:cNvSpPr/>
          <p:nvPr/>
        </p:nvSpPr>
        <p:spPr>
          <a:xfrm>
            <a:off x="6583680" y="2651760"/>
            <a:ext cx="4480560" cy="1737360"/>
          </a:xfrm>
          <a:prstGeom prst="roundRect">
            <a:avLst>
              <a:gd name="adj" fmla="val 3158"/>
            </a:avLst>
          </a:prstGeom>
          <a:solidFill>
            <a:srgbClr val="01040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12280" y="2816352"/>
            <a:ext cx="4023360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data/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*.tmp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.Rhistory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.venv/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0" y="4377906"/>
            <a:ext cx="4480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/!\ </a:t>
            </a:r>
            <a:r>
              <a:rPr lang="en-US" sz="1200" dirty="0" err="1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Retirer</a:t>
            </a: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un fichier déjà commité du .gitignore ne l'efface pas de l'historique.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C95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05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LE COMMIT</a:t>
            </a:r>
            <a:endParaRPr lang="en-US" sz="1200" dirty="0">
              <a:solidFill>
                <a:srgbClr val="F05133"/>
              </a:solidFill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429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états d'un fichier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02920" cy="41148"/>
          </a:xfrm>
          <a:prstGeom prst="rect">
            <a:avLst/>
          </a:prstGeom>
          <a:solidFill>
            <a:srgbClr val="F05133"/>
          </a:solidFill>
          <a:ln/>
        </p:spPr>
      </p:sp>
      <p:sp>
        <p:nvSpPr>
          <p:cNvPr id="5" name="Shape 3"/>
          <p:cNvSpPr/>
          <p:nvPr/>
        </p:nvSpPr>
        <p:spPr>
          <a:xfrm>
            <a:off x="769468" y="2286000"/>
            <a:ext cx="2286000" cy="1188720"/>
          </a:xfrm>
          <a:prstGeom prst="roundRect">
            <a:avLst>
              <a:gd name="adj" fmla="val 7692"/>
            </a:avLst>
          </a:prstGeom>
          <a:solidFill>
            <a:srgbClr val="F6F8FA"/>
          </a:solidFill>
          <a:ln w="19050">
            <a:solidFill>
              <a:srgbClr val="D0D7D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69468" y="245059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Untracked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769468" y="2907792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760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 suivi par Git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110332" y="2880360"/>
            <a:ext cx="393192" cy="0"/>
          </a:xfrm>
          <a:prstGeom prst="line">
            <a:avLst/>
          </a:prstGeom>
          <a:noFill/>
          <a:ln w="25400">
            <a:solidFill>
              <a:srgbClr val="F05133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558388" y="2286000"/>
            <a:ext cx="2286000" cy="1188720"/>
          </a:xfrm>
          <a:prstGeom prst="roundRect">
            <a:avLst>
              <a:gd name="adj" fmla="val 7692"/>
            </a:avLst>
          </a:prstGeom>
          <a:solidFill>
            <a:srgbClr val="F6F8FA"/>
          </a:solidFill>
          <a:ln w="19050">
            <a:solidFill>
              <a:srgbClr val="D0D7D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558388" y="245059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Staged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3558388" y="2907792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760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add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899252" y="2880360"/>
            <a:ext cx="393192" cy="0"/>
          </a:xfrm>
          <a:prstGeom prst="line">
            <a:avLst/>
          </a:prstGeom>
          <a:noFill/>
          <a:ln w="25400">
            <a:solidFill>
              <a:srgbClr val="F05133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347308" y="2286000"/>
            <a:ext cx="2286000" cy="1188720"/>
          </a:xfrm>
          <a:prstGeom prst="roundRect">
            <a:avLst>
              <a:gd name="adj" fmla="val 7692"/>
            </a:avLst>
          </a:prstGeom>
          <a:solidFill>
            <a:srgbClr val="F05133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47308" y="245059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Committed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6347308" y="2907792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AF2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commit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688172" y="2880360"/>
            <a:ext cx="393192" cy="0"/>
          </a:xfrm>
          <a:prstGeom prst="line">
            <a:avLst/>
          </a:prstGeom>
          <a:noFill/>
          <a:ln w="25400">
            <a:solidFill>
              <a:srgbClr val="F05133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9136228" y="2286000"/>
            <a:ext cx="2286000" cy="1188720"/>
          </a:xfrm>
          <a:prstGeom prst="roundRect">
            <a:avLst>
              <a:gd name="adj" fmla="val 7692"/>
            </a:avLst>
          </a:prstGeom>
          <a:solidFill>
            <a:srgbClr val="F6F8FA"/>
          </a:solidFill>
          <a:ln w="19050">
            <a:solidFill>
              <a:srgbClr val="D0D7D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136228" y="245059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Modified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9136228" y="2907792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760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après édition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912468" y="3775782"/>
            <a:ext cx="7680960" cy="1920240"/>
          </a:xfrm>
          <a:prstGeom prst="roundRect">
            <a:avLst>
              <a:gd name="adj" fmla="val 2857"/>
            </a:avLst>
          </a:prstGeom>
          <a:solidFill>
            <a:srgbClr val="161B2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2141068" y="3940374"/>
            <a:ext cx="7223760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add .                                 # untracked → staged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commit -m "Initialisation du projet"  # staged → committed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status                             # affiche l'état de chaque fichier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C95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05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HABITUDE</a:t>
            </a:r>
            <a:endParaRPr lang="en-US" sz="1200" dirty="0">
              <a:solidFill>
                <a:srgbClr val="F05133"/>
              </a:solidFill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429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cycle de travail quotidien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02920" cy="41148"/>
          </a:xfrm>
          <a:prstGeom prst="rect">
            <a:avLst/>
          </a:prstGeom>
          <a:solidFill>
            <a:srgbClr val="F0513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585820" y="2216989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status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347308" y="237744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add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9136228" y="221742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commit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1912468" y="3931920"/>
            <a:ext cx="8366760" cy="0"/>
          </a:xfrm>
          <a:prstGeom prst="line">
            <a:avLst/>
          </a:prstGeom>
          <a:noFill/>
          <a:ln w="19050">
            <a:solidFill>
              <a:srgbClr val="57606A"/>
            </a:solidFill>
            <a:prstDash val="dash"/>
            <a:tailEnd type="triangle"/>
          </a:ln>
        </p:spPr>
      </p:sp>
      <p:sp>
        <p:nvSpPr>
          <p:cNvPr id="17" name="Text 15"/>
          <p:cNvSpPr txBox="1"/>
          <p:nvPr/>
        </p:nvSpPr>
        <p:spPr>
          <a:xfrm>
            <a:off x="806501" y="4069080"/>
            <a:ext cx="10652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recommence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C95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66" name="Shape 11">
            <a:extLst>
              <a:ext uri="{FF2B5EF4-FFF2-40B4-BE49-F238E27FC236}">
                <a16:creationId xmlns:a16="http://schemas.microsoft.com/office/drawing/2014/main" id="{62BA64AF-DB9A-C4A9-DF8A-8617DFE9912E}"/>
              </a:ext>
            </a:extLst>
          </p:cNvPr>
          <p:cNvSpPr/>
          <p:nvPr/>
        </p:nvSpPr>
        <p:spPr>
          <a:xfrm>
            <a:off x="9023498" y="2055137"/>
            <a:ext cx="2286000" cy="1188720"/>
          </a:xfrm>
          <a:prstGeom prst="roundRect">
            <a:avLst>
              <a:gd name="adj" fmla="val 7692"/>
            </a:avLst>
          </a:prstGeom>
          <a:solidFill>
            <a:srgbClr val="F05133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67" name="Shape 15">
            <a:extLst>
              <a:ext uri="{FF2B5EF4-FFF2-40B4-BE49-F238E27FC236}">
                <a16:creationId xmlns:a16="http://schemas.microsoft.com/office/drawing/2014/main" id="{220E5332-65E6-095C-0646-5749E6082F62}"/>
              </a:ext>
            </a:extLst>
          </p:cNvPr>
          <p:cNvSpPr/>
          <p:nvPr/>
        </p:nvSpPr>
        <p:spPr>
          <a:xfrm>
            <a:off x="6216209" y="2055137"/>
            <a:ext cx="2286000" cy="1188720"/>
          </a:xfrm>
          <a:prstGeom prst="roundRect">
            <a:avLst>
              <a:gd name="adj" fmla="val 7692"/>
            </a:avLst>
          </a:prstGeom>
          <a:solidFill>
            <a:srgbClr val="F6F8FA"/>
          </a:solidFill>
          <a:ln w="19050">
            <a:solidFill>
              <a:srgbClr val="D0D7DE"/>
            </a:solidFill>
            <a:prstDash val="solid"/>
          </a:ln>
        </p:spPr>
      </p:sp>
      <p:sp>
        <p:nvSpPr>
          <p:cNvPr id="68" name="Shape 3">
            <a:extLst>
              <a:ext uri="{FF2B5EF4-FFF2-40B4-BE49-F238E27FC236}">
                <a16:creationId xmlns:a16="http://schemas.microsoft.com/office/drawing/2014/main" id="{86B9D37B-0969-D4C2-49EF-BCEB660A097B}"/>
              </a:ext>
            </a:extLst>
          </p:cNvPr>
          <p:cNvSpPr/>
          <p:nvPr/>
        </p:nvSpPr>
        <p:spPr>
          <a:xfrm>
            <a:off x="609905" y="2063894"/>
            <a:ext cx="2286000" cy="1188720"/>
          </a:xfrm>
          <a:prstGeom prst="roundRect">
            <a:avLst>
              <a:gd name="adj" fmla="val 7692"/>
            </a:avLst>
          </a:prstGeom>
          <a:solidFill>
            <a:srgbClr val="F6F8FA"/>
          </a:solidFill>
          <a:ln w="19050">
            <a:solidFill>
              <a:srgbClr val="D0D7DE"/>
            </a:solidFill>
            <a:prstDash val="solid"/>
          </a:ln>
        </p:spPr>
      </p:sp>
      <p:sp>
        <p:nvSpPr>
          <p:cNvPr id="69" name="Text 4">
            <a:extLst>
              <a:ext uri="{FF2B5EF4-FFF2-40B4-BE49-F238E27FC236}">
                <a16:creationId xmlns:a16="http://schemas.microsoft.com/office/drawing/2014/main" id="{7A53B2D4-2018-BB31-4B3F-1A3C1ABAE335}"/>
              </a:ext>
            </a:extLst>
          </p:cNvPr>
          <p:cNvSpPr txBox="1"/>
          <p:nvPr/>
        </p:nvSpPr>
        <p:spPr>
          <a:xfrm>
            <a:off x="579730" y="2466617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 err="1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Travailler</a:t>
            </a:r>
            <a:r>
              <a:rPr lang="en-US" sz="1450" b="1" dirty="0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sur </a:t>
            </a:r>
            <a:r>
              <a:rPr lang="en-US" sz="1450" b="1" dirty="0" err="1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vos</a:t>
            </a:r>
            <a:r>
              <a:rPr lang="en-US" sz="1450" b="1" dirty="0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50" b="1" dirty="0" err="1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fichiers</a:t>
            </a:r>
            <a:endParaRPr lang="en-US" sz="1450" dirty="0"/>
          </a:p>
        </p:txBody>
      </p:sp>
      <p:sp>
        <p:nvSpPr>
          <p:cNvPr id="70" name="Shape 6">
            <a:extLst>
              <a:ext uri="{FF2B5EF4-FFF2-40B4-BE49-F238E27FC236}">
                <a16:creationId xmlns:a16="http://schemas.microsoft.com/office/drawing/2014/main" id="{EDDC2808-A3C1-5634-B806-A859E1A44B84}"/>
              </a:ext>
            </a:extLst>
          </p:cNvPr>
          <p:cNvSpPr/>
          <p:nvPr/>
        </p:nvSpPr>
        <p:spPr>
          <a:xfrm>
            <a:off x="2950769" y="2658254"/>
            <a:ext cx="393192" cy="0"/>
          </a:xfrm>
          <a:prstGeom prst="line">
            <a:avLst/>
          </a:prstGeom>
          <a:noFill/>
          <a:ln w="25400">
            <a:solidFill>
              <a:srgbClr val="F05133"/>
            </a:solidFill>
            <a:prstDash val="solid"/>
            <a:tailEnd type="triangle"/>
          </a:ln>
        </p:spPr>
      </p:sp>
      <p:sp>
        <p:nvSpPr>
          <p:cNvPr id="71" name="Shape 7">
            <a:extLst>
              <a:ext uri="{FF2B5EF4-FFF2-40B4-BE49-F238E27FC236}">
                <a16:creationId xmlns:a16="http://schemas.microsoft.com/office/drawing/2014/main" id="{5045A8F3-6FF0-8BCA-AFC8-B3002EFDBEB8}"/>
              </a:ext>
            </a:extLst>
          </p:cNvPr>
          <p:cNvSpPr/>
          <p:nvPr/>
        </p:nvSpPr>
        <p:spPr>
          <a:xfrm>
            <a:off x="3398825" y="2063894"/>
            <a:ext cx="2286000" cy="1188720"/>
          </a:xfrm>
          <a:prstGeom prst="roundRect">
            <a:avLst>
              <a:gd name="adj" fmla="val 7692"/>
            </a:avLst>
          </a:prstGeom>
          <a:solidFill>
            <a:srgbClr val="F6F8FA"/>
          </a:solidFill>
          <a:ln w="19050">
            <a:solidFill>
              <a:srgbClr val="D0D7DE"/>
            </a:solidFill>
            <a:prstDash val="solid"/>
          </a:ln>
        </p:spPr>
      </p:sp>
      <p:sp>
        <p:nvSpPr>
          <p:cNvPr id="72" name="Text 8">
            <a:extLst>
              <a:ext uri="{FF2B5EF4-FFF2-40B4-BE49-F238E27FC236}">
                <a16:creationId xmlns:a16="http://schemas.microsoft.com/office/drawing/2014/main" id="{7392E47F-C56B-B8EC-C47F-4B0AC15E0B3E}"/>
              </a:ext>
            </a:extLst>
          </p:cNvPr>
          <p:cNvSpPr txBox="1"/>
          <p:nvPr/>
        </p:nvSpPr>
        <p:spPr>
          <a:xfrm>
            <a:off x="3398825" y="222848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Verifier les </a:t>
            </a:r>
            <a:r>
              <a:rPr lang="en-US" sz="1450" b="1" dirty="0" err="1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fichiers</a:t>
            </a:r>
            <a:endParaRPr lang="en-US" sz="1450" dirty="0"/>
          </a:p>
        </p:txBody>
      </p:sp>
      <p:sp>
        <p:nvSpPr>
          <p:cNvPr id="73" name="Text 9">
            <a:extLst>
              <a:ext uri="{FF2B5EF4-FFF2-40B4-BE49-F238E27FC236}">
                <a16:creationId xmlns:a16="http://schemas.microsoft.com/office/drawing/2014/main" id="{28B85CA0-32C9-F800-1C25-D09C9460BE9F}"/>
              </a:ext>
            </a:extLst>
          </p:cNvPr>
          <p:cNvSpPr txBox="1"/>
          <p:nvPr/>
        </p:nvSpPr>
        <p:spPr>
          <a:xfrm>
            <a:off x="3400381" y="2685686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</a:t>
            </a:r>
            <a:r>
              <a:rPr lang="en-US" sz="1100" dirty="0">
                <a:solidFill>
                  <a:srgbClr val="5760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dirty="0">
                <a:solidFill>
                  <a:srgbClr val="7F7F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</a:t>
            </a:r>
          </a:p>
          <a:p>
            <a:pPr algn="ctr"/>
            <a:r>
              <a:rPr lang="en-US" sz="1100" dirty="0">
                <a:solidFill>
                  <a:srgbClr val="7F7F7F"/>
                </a:solidFill>
                <a:latin typeface="Courier New" pitchFamily="34" charset="0"/>
                <a:cs typeface="Courier New" pitchFamily="34" charset="-120"/>
              </a:rPr>
              <a:t>git diff</a:t>
            </a:r>
            <a:endParaRPr lang="en-US" sz="1100" dirty="0">
              <a:solidFill>
                <a:srgbClr val="7F7F7F"/>
              </a:solidFill>
            </a:endParaRPr>
          </a:p>
        </p:txBody>
      </p:sp>
      <p:sp>
        <p:nvSpPr>
          <p:cNvPr id="74" name="Shape 10">
            <a:extLst>
              <a:ext uri="{FF2B5EF4-FFF2-40B4-BE49-F238E27FC236}">
                <a16:creationId xmlns:a16="http://schemas.microsoft.com/office/drawing/2014/main" id="{2048EDE9-B03F-FAD6-7FB3-EBF33D557BF7}"/>
              </a:ext>
            </a:extLst>
          </p:cNvPr>
          <p:cNvSpPr/>
          <p:nvPr/>
        </p:nvSpPr>
        <p:spPr>
          <a:xfrm>
            <a:off x="5739689" y="2658254"/>
            <a:ext cx="393192" cy="0"/>
          </a:xfrm>
          <a:prstGeom prst="line">
            <a:avLst/>
          </a:prstGeom>
          <a:noFill/>
          <a:ln w="25400">
            <a:solidFill>
              <a:srgbClr val="F05133"/>
            </a:solidFill>
            <a:prstDash val="solid"/>
            <a:tailEnd type="triangle"/>
          </a:ln>
        </p:spPr>
      </p:sp>
      <p:sp>
        <p:nvSpPr>
          <p:cNvPr id="75" name="Text 12">
            <a:extLst>
              <a:ext uri="{FF2B5EF4-FFF2-40B4-BE49-F238E27FC236}">
                <a16:creationId xmlns:a16="http://schemas.microsoft.com/office/drawing/2014/main" id="{1A0AB642-C3BC-96A3-2E6C-E6066963FFE4}"/>
              </a:ext>
            </a:extLst>
          </p:cNvPr>
          <p:cNvSpPr txBox="1"/>
          <p:nvPr/>
        </p:nvSpPr>
        <p:spPr>
          <a:xfrm>
            <a:off x="6215177" y="222848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 err="1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Ajouter</a:t>
            </a:r>
            <a:r>
              <a:rPr lang="en-US" sz="1450" b="1" dirty="0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les </a:t>
            </a:r>
            <a:r>
              <a:rPr lang="en-US" sz="1450" b="1" dirty="0" err="1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fichiers</a:t>
            </a:r>
            <a:endParaRPr lang="en-US" sz="1450" b="1" dirty="0">
              <a:solidFill>
                <a:srgbClr val="24292F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 algn="ctr">
              <a:buNone/>
            </a:pPr>
            <a:r>
              <a:rPr lang="en-US" sz="1450" b="1" dirty="0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 commit</a:t>
            </a:r>
            <a:endParaRPr lang="en-US" sz="1450" dirty="0"/>
          </a:p>
        </p:txBody>
      </p:sp>
      <p:sp>
        <p:nvSpPr>
          <p:cNvPr id="76" name="Text 13">
            <a:extLst>
              <a:ext uri="{FF2B5EF4-FFF2-40B4-BE49-F238E27FC236}">
                <a16:creationId xmlns:a16="http://schemas.microsoft.com/office/drawing/2014/main" id="{255AA2A9-49C6-5D43-5DEA-CCF3A52E0F82}"/>
              </a:ext>
            </a:extLst>
          </p:cNvPr>
          <p:cNvSpPr txBox="1"/>
          <p:nvPr/>
        </p:nvSpPr>
        <p:spPr>
          <a:xfrm>
            <a:off x="6231835" y="2685686"/>
            <a:ext cx="22693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</a:t>
            </a:r>
            <a:r>
              <a:rPr lang="en-US" sz="1100" dirty="0">
                <a:solidFill>
                  <a:srgbClr val="5760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dirty="0">
                <a:solidFill>
                  <a:srgbClr val="7F7F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</a:t>
            </a:r>
            <a:endParaRPr lang="en-US" sz="1100" dirty="0">
              <a:solidFill>
                <a:srgbClr val="7F7F7F"/>
              </a:solidFill>
            </a:endParaRPr>
          </a:p>
        </p:txBody>
      </p:sp>
      <p:sp>
        <p:nvSpPr>
          <p:cNvPr id="77" name="Shape 14">
            <a:extLst>
              <a:ext uri="{FF2B5EF4-FFF2-40B4-BE49-F238E27FC236}">
                <a16:creationId xmlns:a16="http://schemas.microsoft.com/office/drawing/2014/main" id="{5D4FE289-BD1F-3376-9DB3-1F3EA57F59B0}"/>
              </a:ext>
            </a:extLst>
          </p:cNvPr>
          <p:cNvSpPr/>
          <p:nvPr/>
        </p:nvSpPr>
        <p:spPr>
          <a:xfrm>
            <a:off x="8583473" y="2643849"/>
            <a:ext cx="393192" cy="0"/>
          </a:xfrm>
          <a:prstGeom prst="line">
            <a:avLst/>
          </a:prstGeom>
          <a:noFill/>
          <a:ln w="25400">
            <a:solidFill>
              <a:srgbClr val="F05133"/>
            </a:solidFill>
            <a:prstDash val="solid"/>
            <a:tailEnd type="triangle"/>
          </a:ln>
        </p:spPr>
      </p:sp>
      <p:sp>
        <p:nvSpPr>
          <p:cNvPr id="78" name="Text 16">
            <a:extLst>
              <a:ext uri="{FF2B5EF4-FFF2-40B4-BE49-F238E27FC236}">
                <a16:creationId xmlns:a16="http://schemas.microsoft.com/office/drawing/2014/main" id="{F6E04752-AD17-FF1C-ED32-F0746D3BD4B1}"/>
              </a:ext>
            </a:extLst>
          </p:cNvPr>
          <p:cNvSpPr txBox="1"/>
          <p:nvPr/>
        </p:nvSpPr>
        <p:spPr>
          <a:xfrm>
            <a:off x="9032561" y="222848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 err="1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Effectuer</a:t>
            </a:r>
            <a:r>
              <a:rPr lang="en-US" sz="1450" b="1" dirty="0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 commit</a:t>
            </a:r>
            <a:endParaRPr lang="en-US" sz="1450" dirty="0"/>
          </a:p>
        </p:txBody>
      </p:sp>
      <p:sp>
        <p:nvSpPr>
          <p:cNvPr id="79" name="Text 17">
            <a:extLst>
              <a:ext uri="{FF2B5EF4-FFF2-40B4-BE49-F238E27FC236}">
                <a16:creationId xmlns:a16="http://schemas.microsoft.com/office/drawing/2014/main" id="{9CA3199F-626D-46FF-5EB9-E0F503D44200}"/>
              </a:ext>
            </a:extLst>
          </p:cNvPr>
          <p:cNvSpPr txBox="1"/>
          <p:nvPr/>
        </p:nvSpPr>
        <p:spPr>
          <a:xfrm>
            <a:off x="9032560" y="2712816"/>
            <a:ext cx="227693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</a:t>
            </a:r>
            <a:r>
              <a:rPr lang="en-US" sz="1100" dirty="0">
                <a:solidFill>
                  <a:srgbClr val="5760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dirty="0">
                <a:solidFill>
                  <a:srgbClr val="7F7F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commit</a:t>
            </a:r>
            <a:endParaRPr lang="en-US" sz="1100" dirty="0">
              <a:solidFill>
                <a:srgbClr val="7F7F7F"/>
              </a:solidFill>
            </a:endParaRPr>
          </a:p>
        </p:txBody>
      </p:sp>
      <p:sp>
        <p:nvSpPr>
          <p:cNvPr id="80" name="Text 17">
            <a:extLst>
              <a:ext uri="{FF2B5EF4-FFF2-40B4-BE49-F238E27FC236}">
                <a16:creationId xmlns:a16="http://schemas.microsoft.com/office/drawing/2014/main" id="{37B17944-4C1E-89E7-3432-18DDDC4FCB07}"/>
              </a:ext>
            </a:extLst>
          </p:cNvPr>
          <p:cNvSpPr txBox="1"/>
          <p:nvPr/>
        </p:nvSpPr>
        <p:spPr>
          <a:xfrm>
            <a:off x="640080" y="568630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 err="1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Faites</a:t>
            </a:r>
            <a:r>
              <a:rPr lang="en-US" sz="1300" i="1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des commits </a:t>
            </a:r>
            <a:r>
              <a:rPr lang="en-US" sz="1300" i="1" dirty="0" err="1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régulièrement</a:t>
            </a:r>
            <a:r>
              <a:rPr lang="en-US" sz="1300" i="1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avec des messages </a:t>
            </a:r>
            <a:r>
              <a:rPr lang="en-US" sz="1300" i="1" dirty="0" err="1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clairs</a:t>
            </a:r>
            <a:r>
              <a:rPr lang="en-US" sz="1300" i="1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qui </a:t>
            </a:r>
            <a:r>
              <a:rPr lang="en-US" sz="1300" i="1" dirty="0" err="1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permettent</a:t>
            </a:r>
            <a:r>
              <a:rPr lang="en-US" sz="1300" i="1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300" i="1" dirty="0" err="1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comprendre</a:t>
            </a:r>
            <a:r>
              <a:rPr lang="en-US" sz="1300" i="1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</a:t>
            </a:r>
            <a:r>
              <a:rPr lang="en-US" sz="1300" i="1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qui a change.</a:t>
            </a:r>
            <a:endParaRPr lang="en-US" sz="1300" dirty="0"/>
          </a:p>
        </p:txBody>
      </p:sp>
      <p:sp>
        <p:nvSpPr>
          <p:cNvPr id="81" name="Shape 19">
            <a:extLst>
              <a:ext uri="{FF2B5EF4-FFF2-40B4-BE49-F238E27FC236}">
                <a16:creationId xmlns:a16="http://schemas.microsoft.com/office/drawing/2014/main" id="{ABEFD3A0-A462-5256-A105-B68653A977A5}"/>
              </a:ext>
            </a:extLst>
          </p:cNvPr>
          <p:cNvSpPr/>
          <p:nvPr/>
        </p:nvSpPr>
        <p:spPr>
          <a:xfrm>
            <a:off x="2255520" y="4833583"/>
            <a:ext cx="7680960" cy="561777"/>
          </a:xfrm>
          <a:prstGeom prst="roundRect">
            <a:avLst>
              <a:gd name="adj" fmla="val 2857"/>
            </a:avLst>
          </a:prstGeom>
          <a:solidFill>
            <a:srgbClr val="161B22"/>
          </a:solidFill>
          <a:ln/>
        </p:spPr>
      </p:sp>
      <p:sp>
        <p:nvSpPr>
          <p:cNvPr id="82" name="Text 20">
            <a:extLst>
              <a:ext uri="{FF2B5EF4-FFF2-40B4-BE49-F238E27FC236}">
                <a16:creationId xmlns:a16="http://schemas.microsoft.com/office/drawing/2014/main" id="{F44D11CB-BC05-2753-0F5D-2AED89B69BC5}"/>
              </a:ext>
            </a:extLst>
          </p:cNvPr>
          <p:cNvSpPr txBox="1"/>
          <p:nvPr/>
        </p:nvSpPr>
        <p:spPr>
          <a:xfrm>
            <a:off x="2484120" y="4953113"/>
            <a:ext cx="7223760" cy="3344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log                                  # </a:t>
            </a:r>
            <a:r>
              <a:rPr lang="en-US" sz="1300" dirty="0" err="1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permet</a:t>
            </a:r>
            <a:r>
              <a:rPr lang="en-US" sz="13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de </a:t>
            </a:r>
            <a:r>
              <a:rPr lang="en-US" sz="1300" dirty="0" err="1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voir</a:t>
            </a:r>
            <a:r>
              <a:rPr lang="en-US" sz="13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300" dirty="0" err="1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l’historique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05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RETOUR EN ARRIÈRE</a:t>
            </a:r>
            <a:endParaRPr lang="en-US" sz="1200" dirty="0">
              <a:solidFill>
                <a:srgbClr val="F05133"/>
              </a:solidFill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429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Annuler des modifications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02920" cy="41148"/>
          </a:xfrm>
          <a:prstGeom prst="rect">
            <a:avLst/>
          </a:prstGeom>
          <a:solidFill>
            <a:srgbClr val="F05133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1965960"/>
            <a:ext cx="10607040" cy="1005840"/>
          </a:xfrm>
          <a:prstGeom prst="roundRect">
            <a:avLst>
              <a:gd name="adj" fmla="val 5455"/>
            </a:avLst>
          </a:prstGeom>
          <a:solidFill>
            <a:srgbClr val="F6F8F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1965960"/>
            <a:ext cx="6035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Abandonner une modification non commitée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583680" y="2194560"/>
            <a:ext cx="3749040" cy="548640"/>
          </a:xfrm>
          <a:prstGeom prst="roundRect">
            <a:avLst>
              <a:gd name="adj" fmla="val 10000"/>
            </a:avLst>
          </a:prstGeom>
          <a:solidFill>
            <a:srgbClr val="0D1117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583680" y="219456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051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restore README.md</a:t>
            </a:r>
            <a:endParaRPr lang="en-US" sz="1200" dirty="0">
              <a:solidFill>
                <a:srgbClr val="F05133"/>
              </a:solidFill>
            </a:endParaRPr>
          </a:p>
        </p:txBody>
      </p:sp>
      <p:sp>
        <p:nvSpPr>
          <p:cNvPr id="9" name="Shape 7"/>
          <p:cNvSpPr/>
          <p:nvPr/>
        </p:nvSpPr>
        <p:spPr>
          <a:xfrm>
            <a:off x="640080" y="3200400"/>
            <a:ext cx="10607040" cy="1005840"/>
          </a:xfrm>
          <a:prstGeom prst="roundRect">
            <a:avLst>
              <a:gd name="adj" fmla="val 5455"/>
            </a:avLst>
          </a:prstGeom>
          <a:solidFill>
            <a:srgbClr val="F6F8F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3200400"/>
            <a:ext cx="6035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Retirer un fichier de la zone de préparation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6583680" y="3429000"/>
            <a:ext cx="3749040" cy="548640"/>
          </a:xfrm>
          <a:prstGeom prst="roundRect">
            <a:avLst>
              <a:gd name="adj" fmla="val 10000"/>
            </a:avLst>
          </a:prstGeom>
          <a:solidFill>
            <a:srgbClr val="0D111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83680" y="342900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051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restore --staged README.md</a:t>
            </a:r>
            <a:endParaRPr lang="en-US" sz="1200" dirty="0">
              <a:solidFill>
                <a:srgbClr val="F05133"/>
              </a:solidFill>
            </a:endParaRPr>
          </a:p>
        </p:txBody>
      </p:sp>
      <p:sp>
        <p:nvSpPr>
          <p:cNvPr id="13" name="Shape 11"/>
          <p:cNvSpPr/>
          <p:nvPr/>
        </p:nvSpPr>
        <p:spPr>
          <a:xfrm>
            <a:off x="640080" y="4434840"/>
            <a:ext cx="10607040" cy="1005840"/>
          </a:xfrm>
          <a:prstGeom prst="roundRect">
            <a:avLst>
              <a:gd name="adj" fmla="val 5455"/>
            </a:avLst>
          </a:prstGeom>
          <a:solidFill>
            <a:srgbClr val="F6F8F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14400" y="4434840"/>
            <a:ext cx="6035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Consulter un ancien commit sans changer de branche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6583680" y="4663440"/>
            <a:ext cx="3749040" cy="548640"/>
          </a:xfrm>
          <a:prstGeom prst="roundRect">
            <a:avLst>
              <a:gd name="adj" fmla="val 10000"/>
            </a:avLst>
          </a:prstGeom>
          <a:solidFill>
            <a:srgbClr val="0D1117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583680" y="466344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051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switch -d &lt;commit&gt;</a:t>
            </a:r>
            <a:endParaRPr lang="en-US" sz="1200" dirty="0">
              <a:solidFill>
                <a:srgbClr val="F05133"/>
              </a:solidFill>
            </a:endParaRPr>
          </a:p>
        </p:txBody>
      </p:sp>
      <p:sp>
        <p:nvSpPr>
          <p:cNvPr id="17" name="Text 15"/>
          <p:cNvSpPr txBox="1"/>
          <p:nvPr/>
        </p:nvSpPr>
        <p:spPr>
          <a:xfrm>
            <a:off x="640080" y="576072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CF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restore efface définitivement les modifications non commitées — vérifiez avec git diff avant de l'utiliser.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C95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05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METTRE DE CÔTÉ</a:t>
            </a:r>
            <a:endParaRPr lang="en-US" sz="1200" dirty="0">
              <a:solidFill>
                <a:srgbClr val="F05133"/>
              </a:solidFill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429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 stash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02920" cy="41148"/>
          </a:xfrm>
          <a:prstGeom prst="rect">
            <a:avLst/>
          </a:prstGeom>
          <a:solidFill>
            <a:srgbClr val="F05133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8288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Changer de branche sans commit prématuré :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828904" y="2423160"/>
            <a:ext cx="1572768" cy="1051560"/>
          </a:xfrm>
          <a:prstGeom prst="roundRect">
            <a:avLst>
              <a:gd name="adj" fmla="val 6957"/>
            </a:avLst>
          </a:prstGeom>
          <a:solidFill>
            <a:srgbClr val="F6F8FA"/>
          </a:solidFill>
          <a:ln w="19050">
            <a:solidFill>
              <a:srgbClr val="D0D7D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8904" y="2423160"/>
            <a:ext cx="15727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Travail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cours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429104" y="2944368"/>
            <a:ext cx="164592" cy="0"/>
          </a:xfrm>
          <a:prstGeom prst="line">
            <a:avLst/>
          </a:prstGeom>
          <a:noFill/>
          <a:ln w="25400">
            <a:solidFill>
              <a:srgbClr val="57606A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2621128" y="2423160"/>
            <a:ext cx="1572768" cy="1051560"/>
          </a:xfrm>
          <a:prstGeom prst="roundRect">
            <a:avLst>
              <a:gd name="adj" fmla="val 6957"/>
            </a:avLst>
          </a:prstGeom>
          <a:solidFill>
            <a:srgbClr val="F05133"/>
          </a:solidFill>
          <a:ln w="19050">
            <a:solidFill>
              <a:srgbClr val="F051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621128" y="2423160"/>
            <a:ext cx="15727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stash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221328" y="2944368"/>
            <a:ext cx="164592" cy="0"/>
          </a:xfrm>
          <a:prstGeom prst="line">
            <a:avLst/>
          </a:prstGeom>
          <a:noFill/>
          <a:ln w="25400">
            <a:solidFill>
              <a:srgbClr val="57606A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413352" y="2423160"/>
            <a:ext cx="1572768" cy="1051560"/>
          </a:xfrm>
          <a:prstGeom prst="roundRect">
            <a:avLst>
              <a:gd name="adj" fmla="val 6957"/>
            </a:avLst>
          </a:prstGeom>
          <a:solidFill>
            <a:srgbClr val="F6F8FA"/>
          </a:solidFill>
          <a:ln w="19050">
            <a:solidFill>
              <a:srgbClr val="D0D7D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13352" y="2423160"/>
            <a:ext cx="15727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429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switch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2429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013552" y="2944368"/>
            <a:ext cx="164592" cy="0"/>
          </a:xfrm>
          <a:prstGeom prst="line">
            <a:avLst/>
          </a:prstGeom>
          <a:noFill/>
          <a:ln w="25400">
            <a:solidFill>
              <a:srgbClr val="57606A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6205576" y="2423160"/>
            <a:ext cx="1572768" cy="1051560"/>
          </a:xfrm>
          <a:prstGeom prst="roundRect">
            <a:avLst>
              <a:gd name="adj" fmla="val 6957"/>
            </a:avLst>
          </a:prstGeom>
          <a:solidFill>
            <a:srgbClr val="F6F8FA"/>
          </a:solidFill>
          <a:ln w="19050">
            <a:solidFill>
              <a:srgbClr val="D0D7D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205576" y="2423160"/>
            <a:ext cx="15727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...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805776" y="2944368"/>
            <a:ext cx="164592" cy="0"/>
          </a:xfrm>
          <a:prstGeom prst="line">
            <a:avLst/>
          </a:prstGeom>
          <a:noFill/>
          <a:ln w="25400">
            <a:solidFill>
              <a:srgbClr val="57606A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7997800" y="2423160"/>
            <a:ext cx="1572768" cy="1051560"/>
          </a:xfrm>
          <a:prstGeom prst="roundRect">
            <a:avLst>
              <a:gd name="adj" fmla="val 6957"/>
            </a:avLst>
          </a:prstGeom>
          <a:solidFill>
            <a:srgbClr val="F6F8FA"/>
          </a:solidFill>
          <a:ln w="19050">
            <a:solidFill>
              <a:srgbClr val="D0D7D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997800" y="2423160"/>
            <a:ext cx="15727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429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switch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2429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analyse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9598000" y="2944368"/>
            <a:ext cx="164592" cy="0"/>
          </a:xfrm>
          <a:prstGeom prst="line">
            <a:avLst/>
          </a:prstGeom>
          <a:noFill/>
          <a:ln w="25400">
            <a:solidFill>
              <a:srgbClr val="57606A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9790024" y="2423160"/>
            <a:ext cx="1572768" cy="1051560"/>
          </a:xfrm>
          <a:prstGeom prst="roundRect">
            <a:avLst>
              <a:gd name="adj" fmla="val 6957"/>
            </a:avLst>
          </a:prstGeom>
          <a:solidFill>
            <a:srgbClr val="F05133"/>
          </a:solidFill>
          <a:ln w="19050">
            <a:solidFill>
              <a:srgbClr val="F0513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790024" y="2423160"/>
            <a:ext cx="15727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stash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1752448" y="3931920"/>
            <a:ext cx="8686800" cy="1920240"/>
          </a:xfrm>
          <a:prstGeom prst="roundRect">
            <a:avLst>
              <a:gd name="adj" fmla="val 2857"/>
            </a:avLst>
          </a:prstGeom>
          <a:solidFill>
            <a:srgbClr val="161B2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981048" y="4096512"/>
            <a:ext cx="8229600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stash push -m "Nettoyage en cours"   # met de côté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stash list                          # liste les stash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stash pop                           # réapplique et supprime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stash drop stash@{0}                # supprime sans réappliquer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C95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331720"/>
            <a:ext cx="2103120" cy="2103120"/>
          </a:xfrm>
          <a:prstGeom prst="ellipse">
            <a:avLst/>
          </a:prstGeom>
          <a:solidFill>
            <a:srgbClr val="161B22"/>
          </a:solidFill>
          <a:ln w="25400">
            <a:solidFill>
              <a:srgbClr val="F051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2331720"/>
            <a:ext cx="21031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F051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3383280" y="2651760"/>
            <a:ext cx="8138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Branches et fusion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3383280" y="361188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Diverger sans perturber le travail des autres, puis réunir le tout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05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DIVERGER</a:t>
            </a:r>
            <a:endParaRPr lang="en-US" sz="1200" dirty="0">
              <a:solidFill>
                <a:srgbClr val="F05133"/>
              </a:solidFill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429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branches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02920" cy="41148"/>
          </a:xfrm>
          <a:prstGeom prst="rect">
            <a:avLst/>
          </a:prstGeom>
          <a:solidFill>
            <a:srgbClr val="F05133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3291840"/>
            <a:ext cx="2926080" cy="0"/>
          </a:xfrm>
          <a:prstGeom prst="line">
            <a:avLst/>
          </a:prstGeom>
          <a:noFill/>
          <a:ln w="38100">
            <a:solidFill>
              <a:srgbClr val="24292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3218688"/>
            <a:ext cx="146304" cy="146304"/>
          </a:xfrm>
          <a:prstGeom prst="ellipse">
            <a:avLst/>
          </a:prstGeom>
          <a:solidFill>
            <a:srgbClr val="24292F"/>
          </a:solidFill>
          <a:ln/>
        </p:spPr>
      </p:sp>
      <p:sp>
        <p:nvSpPr>
          <p:cNvPr id="7" name="Shape 5"/>
          <p:cNvSpPr/>
          <p:nvPr/>
        </p:nvSpPr>
        <p:spPr>
          <a:xfrm>
            <a:off x="3703320" y="3218688"/>
            <a:ext cx="146304" cy="146304"/>
          </a:xfrm>
          <a:prstGeom prst="ellipse">
            <a:avLst/>
          </a:prstGeom>
          <a:solidFill>
            <a:srgbClr val="24292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274320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429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 flipV="1">
            <a:off x="3840480" y="2389518"/>
            <a:ext cx="4114800" cy="902322"/>
          </a:xfrm>
          <a:prstGeom prst="line">
            <a:avLst/>
          </a:prstGeom>
          <a:noFill/>
          <a:ln w="38100">
            <a:solidFill>
              <a:srgbClr val="0969D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63840" y="2304288"/>
            <a:ext cx="146304" cy="146304"/>
          </a:xfrm>
          <a:prstGeom prst="ellipse">
            <a:avLst/>
          </a:prstGeom>
          <a:solidFill>
            <a:srgbClr val="0969D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092440" y="214884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969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analyse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 flipV="1">
            <a:off x="3840480" y="3291838"/>
            <a:ext cx="4114800" cy="1"/>
          </a:xfrm>
          <a:prstGeom prst="line">
            <a:avLst/>
          </a:prstGeom>
          <a:noFill/>
          <a:ln w="38100">
            <a:solidFill>
              <a:srgbClr val="24292F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7863840" y="3218688"/>
            <a:ext cx="146304" cy="146304"/>
          </a:xfrm>
          <a:prstGeom prst="ellipse">
            <a:avLst/>
          </a:prstGeom>
          <a:solidFill>
            <a:srgbClr val="24292F"/>
          </a:solidFill>
          <a:ln/>
        </p:spPr>
      </p:sp>
      <p:sp>
        <p:nvSpPr>
          <p:cNvPr id="14" name="Shape 12"/>
          <p:cNvSpPr/>
          <p:nvPr/>
        </p:nvSpPr>
        <p:spPr>
          <a:xfrm>
            <a:off x="640080" y="4572000"/>
            <a:ext cx="10607040" cy="1371600"/>
          </a:xfrm>
          <a:prstGeom prst="roundRect">
            <a:avLst>
              <a:gd name="adj" fmla="val 4000"/>
            </a:avLst>
          </a:prstGeom>
          <a:solidFill>
            <a:srgbClr val="161B2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68680" y="4736592"/>
            <a:ext cx="101498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switch -c analyse   # crée la branche et s'y positionne</a:t>
            </a:r>
            <a:endParaRPr lang="en-US" sz="13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branch              # liste les branches (* = active)</a:t>
            </a:r>
            <a:endParaRPr lang="en-US" sz="13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switch main         # revient sur main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C95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05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RÉUNIR</a:t>
            </a:r>
            <a:endParaRPr lang="en-US" sz="1200" dirty="0">
              <a:solidFill>
                <a:srgbClr val="F05133"/>
              </a:solidFill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429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Fusionner son travail (merge)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02920" cy="41148"/>
          </a:xfrm>
          <a:prstGeom prst="rect">
            <a:avLst/>
          </a:prstGeom>
          <a:solidFill>
            <a:srgbClr val="F05133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3017520"/>
            <a:ext cx="2286000" cy="0"/>
          </a:xfrm>
          <a:prstGeom prst="line">
            <a:avLst/>
          </a:prstGeom>
          <a:noFill/>
          <a:ln w="38100">
            <a:solidFill>
              <a:srgbClr val="24292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3200400" y="2194560"/>
            <a:ext cx="3200400" cy="822960"/>
          </a:xfrm>
          <a:prstGeom prst="line">
            <a:avLst/>
          </a:prstGeom>
          <a:noFill/>
          <a:ln w="38100">
            <a:solidFill>
              <a:srgbClr val="0969D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0" y="2194560"/>
            <a:ext cx="1828800" cy="822960"/>
          </a:xfrm>
          <a:prstGeom prst="line">
            <a:avLst/>
          </a:prstGeom>
          <a:noFill/>
          <a:ln w="38100">
            <a:solidFill>
              <a:srgbClr val="0969D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1389" y="3017520"/>
            <a:ext cx="5098211" cy="0"/>
          </a:xfrm>
          <a:prstGeom prst="line">
            <a:avLst/>
          </a:prstGeom>
          <a:noFill/>
          <a:ln w="38100">
            <a:solidFill>
              <a:srgbClr val="24292F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8138160" y="2926080"/>
            <a:ext cx="182880" cy="182880"/>
          </a:xfrm>
          <a:prstGeom prst="ellipse">
            <a:avLst/>
          </a:prstGeom>
          <a:solidFill>
            <a:srgbClr val="F05133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772400" y="31546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051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merge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51460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429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291840" y="187452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969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analyse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206240"/>
            <a:ext cx="10607040" cy="1371600"/>
          </a:xfrm>
          <a:prstGeom prst="roundRect">
            <a:avLst>
              <a:gd name="adj" fmla="val 4000"/>
            </a:avLst>
          </a:prstGeom>
          <a:solidFill>
            <a:srgbClr val="161B2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68680" y="4370832"/>
            <a:ext cx="101498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switch main</a:t>
            </a:r>
          </a:p>
          <a:p>
            <a:pPr>
              <a:lnSpc>
                <a:spcPct val="125000"/>
              </a:lnSpc>
            </a:pPr>
            <a:r>
              <a:rPr lang="en-US" sz="135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diff </a:t>
            </a:r>
            <a:r>
              <a:rPr lang="en-US" sz="1350" dirty="0" err="1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branchB</a:t>
            </a:r>
            <a:r>
              <a:rPr lang="en-US" sz="135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r>
              <a:rPr lang="en-US" sz="1350" dirty="0" err="1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branchA</a:t>
            </a:r>
            <a:r>
              <a:rPr lang="en-US" sz="135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comparer deux branches </a:t>
            </a:r>
            <a:r>
              <a:rPr lang="en-US" sz="1350" dirty="0" err="1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avant</a:t>
            </a:r>
            <a:r>
              <a:rPr lang="en-US" sz="135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de </a:t>
            </a:r>
            <a:r>
              <a:rPr lang="en-US" sz="1350" dirty="0" err="1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fusionner</a:t>
            </a:r>
            <a:endParaRPr lang="en-US" sz="13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merge analyse           # intègre les commits de "analyse" dans "main"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C95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  <p:sp>
        <p:nvSpPr>
          <p:cNvPr id="16" name="Shape 7">
            <a:extLst>
              <a:ext uri="{FF2B5EF4-FFF2-40B4-BE49-F238E27FC236}">
                <a16:creationId xmlns:a16="http://schemas.microsoft.com/office/drawing/2014/main" id="{84B401F1-DF40-2E2E-08D9-AF9289BE6E81}"/>
              </a:ext>
            </a:extLst>
          </p:cNvPr>
          <p:cNvSpPr/>
          <p:nvPr/>
        </p:nvSpPr>
        <p:spPr>
          <a:xfrm>
            <a:off x="6309360" y="2112264"/>
            <a:ext cx="182880" cy="182880"/>
          </a:xfrm>
          <a:prstGeom prst="ellipse">
            <a:avLst/>
          </a:prstGeom>
          <a:solidFill>
            <a:srgbClr val="0969DA"/>
          </a:solidFill>
          <a:ln/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05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CAS PARTICULIER</a:t>
            </a:r>
            <a:endParaRPr lang="en-US" sz="1200" dirty="0">
              <a:solidFill>
                <a:srgbClr val="F05133"/>
              </a:solidFill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429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conflits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02920" cy="41148"/>
          </a:xfrm>
          <a:prstGeom prst="rect">
            <a:avLst/>
          </a:prstGeom>
          <a:solidFill>
            <a:srgbClr val="F05133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752629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Deux branches modifient la même partie d'un même fichier :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2163928" y="2377440"/>
            <a:ext cx="7863840" cy="2103120"/>
          </a:xfrm>
          <a:prstGeom prst="roundRect">
            <a:avLst>
              <a:gd name="adj" fmla="val 2609"/>
            </a:avLst>
          </a:prstGeom>
          <a:solidFill>
            <a:srgbClr val="161B2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483968" y="2606040"/>
            <a:ext cx="7223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F051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&lt;&lt;&lt;&lt;&lt;&lt;&lt; Analyse A</a:t>
            </a:r>
            <a:endParaRPr lang="en-US" sz="14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7EE7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Cette analyse porte sur la population française.</a:t>
            </a:r>
            <a:endParaRPr lang="en-US" sz="14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F051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=======</a:t>
            </a:r>
            <a:endParaRPr lang="en-US" sz="14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FF7B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Cette analyse porte sur la population allemande.</a:t>
            </a:r>
            <a:endParaRPr lang="en-US" sz="14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F051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&gt;&gt;&gt;&gt;&gt;&gt;&gt; Analyse B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163928" y="4709160"/>
            <a:ext cx="7863840" cy="1280160"/>
          </a:xfrm>
          <a:prstGeom prst="roundRect">
            <a:avLst>
              <a:gd name="adj" fmla="val 4286"/>
            </a:avLst>
          </a:prstGeom>
          <a:solidFill>
            <a:srgbClr val="161B2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392528" y="4873752"/>
            <a:ext cx="740664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add README.md</a:t>
            </a:r>
            <a:endParaRPr lang="en-US" sz="13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commit -m "Résout le conflit lors de la fusion"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617220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conflit n'est pas une erreur : Git a simplement besoin d'une décision humaine.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C95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331720"/>
            <a:ext cx="2103120" cy="2103120"/>
          </a:xfrm>
          <a:prstGeom prst="ellipse">
            <a:avLst/>
          </a:prstGeom>
          <a:solidFill>
            <a:srgbClr val="161B22"/>
          </a:solidFill>
          <a:ln w="25400">
            <a:solidFill>
              <a:srgbClr val="F051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2331720"/>
            <a:ext cx="21031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F051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3383280" y="2651760"/>
            <a:ext cx="8138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Travailler avec un dépôt distant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3383280" y="361188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Sauvegarder, partager et collaborer via GitHub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05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DÉMARRER</a:t>
            </a:r>
            <a:endParaRPr lang="en-US" sz="1200" dirty="0">
              <a:solidFill>
                <a:srgbClr val="F05133"/>
              </a:solidFill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429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Connecter un projet, </a:t>
            </a:r>
            <a:r>
              <a:rPr lang="en-US" sz="3000" b="1" dirty="0" err="1">
                <a:solidFill>
                  <a:srgbClr val="2429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</a:t>
            </a:r>
            <a:r>
              <a:rPr lang="en-US" sz="3000" b="1" dirty="0">
                <a:solidFill>
                  <a:srgbClr val="2429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3000" b="1" dirty="0" err="1">
                <a:solidFill>
                  <a:srgbClr val="2429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</a:t>
            </a:r>
            <a:r>
              <a:rPr lang="en-US" sz="3000" b="1" dirty="0">
                <a:solidFill>
                  <a:srgbClr val="2429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3000" b="1" dirty="0" err="1">
                <a:solidFill>
                  <a:srgbClr val="2429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récupérer</a:t>
            </a:r>
            <a:r>
              <a:rPr lang="en-US" sz="3000" b="1" dirty="0">
                <a:solidFill>
                  <a:srgbClr val="2429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un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02920" cy="41148"/>
          </a:xfrm>
          <a:prstGeom prst="rect">
            <a:avLst/>
          </a:prstGeom>
          <a:solidFill>
            <a:srgbClr val="F05133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1965960"/>
            <a:ext cx="5029200" cy="3931920"/>
          </a:xfrm>
          <a:prstGeom prst="roundRect">
            <a:avLst>
              <a:gd name="adj" fmla="val 1860"/>
            </a:avLst>
          </a:prstGeom>
          <a:solidFill>
            <a:srgbClr val="F6F8FA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21945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Publier un projet local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914400" y="2697480"/>
            <a:ext cx="4480560" cy="3017520"/>
          </a:xfrm>
          <a:prstGeom prst="roundRect">
            <a:avLst>
              <a:gd name="adj" fmla="val 1818"/>
            </a:avLst>
          </a:prstGeom>
          <a:solidFill>
            <a:srgbClr val="161B2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143000" y="2862072"/>
            <a:ext cx="4023360" cy="2688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remote add origin \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URL-DU-DEPOT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remote -v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branch -M main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push -u origin main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309360" y="1965960"/>
            <a:ext cx="5029200" cy="3931920"/>
          </a:xfrm>
          <a:prstGeom prst="roundRect">
            <a:avLst>
              <a:gd name="adj" fmla="val 1860"/>
            </a:avLst>
          </a:prstGeom>
          <a:solidFill>
            <a:srgbClr val="F6F8FA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83680" y="21945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Récupérer un projet existant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6583680" y="2697480"/>
            <a:ext cx="4480560" cy="109728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812280" y="2862072"/>
            <a:ext cx="40233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clone &lt;URL-DU-DEPOT&gt;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583680" y="3977640"/>
            <a:ext cx="4480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crée un dossier contenant le projet et son historique complet — utile lorsqu'on rejoint une équipe.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C95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05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COLLABORATION</a:t>
            </a:r>
            <a:endParaRPr lang="en-US" sz="1200" dirty="0">
              <a:solidFill>
                <a:srgbClr val="F05133"/>
              </a:solidFill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429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workflow d'équipe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02920" cy="41148"/>
          </a:xfrm>
          <a:prstGeom prst="rect">
            <a:avLst/>
          </a:prstGeom>
          <a:solidFill>
            <a:srgbClr val="F05133"/>
          </a:solidFill>
          <a:ln/>
        </p:spPr>
      </p:sp>
      <p:sp>
        <p:nvSpPr>
          <p:cNvPr id="5" name="Shape 3"/>
          <p:cNvSpPr/>
          <p:nvPr/>
        </p:nvSpPr>
        <p:spPr>
          <a:xfrm>
            <a:off x="828904" y="2103120"/>
            <a:ext cx="1572768" cy="1051560"/>
          </a:xfrm>
          <a:prstGeom prst="roundRect">
            <a:avLst>
              <a:gd name="adj" fmla="val 6957"/>
            </a:avLst>
          </a:prstGeom>
          <a:solidFill>
            <a:srgbClr val="0D111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8904" y="2103120"/>
            <a:ext cx="15727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pull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2429104" y="2624328"/>
            <a:ext cx="164592" cy="0"/>
          </a:xfrm>
          <a:prstGeom prst="line">
            <a:avLst/>
          </a:prstGeom>
          <a:noFill/>
          <a:ln w="25400">
            <a:solidFill>
              <a:srgbClr val="57606A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621128" y="2103120"/>
            <a:ext cx="1572768" cy="1051560"/>
          </a:xfrm>
          <a:prstGeom prst="roundRect">
            <a:avLst>
              <a:gd name="adj" fmla="val 6957"/>
            </a:avLst>
          </a:prstGeom>
          <a:solidFill>
            <a:srgbClr val="0D111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621128" y="2103120"/>
            <a:ext cx="15727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switch -c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analyse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221328" y="2624328"/>
            <a:ext cx="164592" cy="0"/>
          </a:xfrm>
          <a:prstGeom prst="line">
            <a:avLst/>
          </a:prstGeom>
          <a:noFill/>
          <a:ln w="25400">
            <a:solidFill>
              <a:srgbClr val="57606A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413352" y="2103120"/>
            <a:ext cx="1572768" cy="1051560"/>
          </a:xfrm>
          <a:prstGeom prst="roundRect">
            <a:avLst>
              <a:gd name="adj" fmla="val 6957"/>
            </a:avLst>
          </a:prstGeom>
          <a:solidFill>
            <a:srgbClr val="0D111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413352" y="2103120"/>
            <a:ext cx="15727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 / commit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013552" y="2624328"/>
            <a:ext cx="164592" cy="0"/>
          </a:xfrm>
          <a:prstGeom prst="line">
            <a:avLst/>
          </a:prstGeom>
          <a:noFill/>
          <a:ln w="25400">
            <a:solidFill>
              <a:srgbClr val="57606A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6205576" y="2103120"/>
            <a:ext cx="1572768" cy="1051560"/>
          </a:xfrm>
          <a:prstGeom prst="roundRect">
            <a:avLst>
              <a:gd name="adj" fmla="val 6957"/>
            </a:avLst>
          </a:prstGeom>
          <a:solidFill>
            <a:srgbClr val="0D111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205576" y="2103120"/>
            <a:ext cx="15727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push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805776" y="2624328"/>
            <a:ext cx="164592" cy="0"/>
          </a:xfrm>
          <a:prstGeom prst="line">
            <a:avLst/>
          </a:prstGeom>
          <a:noFill/>
          <a:ln w="25400">
            <a:solidFill>
              <a:srgbClr val="57606A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7997800" y="2103120"/>
            <a:ext cx="1572768" cy="1051560"/>
          </a:xfrm>
          <a:prstGeom prst="roundRect">
            <a:avLst>
              <a:gd name="adj" fmla="val 6957"/>
            </a:avLst>
          </a:prstGeom>
          <a:solidFill>
            <a:schemeClr val="tx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997800" y="2098548"/>
            <a:ext cx="15727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Pull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598000" y="2624328"/>
            <a:ext cx="164592" cy="0"/>
          </a:xfrm>
          <a:prstGeom prst="line">
            <a:avLst/>
          </a:prstGeom>
          <a:noFill/>
          <a:ln w="25400">
            <a:solidFill>
              <a:srgbClr val="57606A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9790024" y="2103120"/>
            <a:ext cx="1572768" cy="1051560"/>
          </a:xfrm>
          <a:prstGeom prst="roundRect">
            <a:avLst>
              <a:gd name="adj" fmla="val 6957"/>
            </a:avLst>
          </a:prstGeom>
          <a:solidFill>
            <a:srgbClr val="0D111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790024" y="2103120"/>
            <a:ext cx="15727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merge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309360" y="3703320"/>
            <a:ext cx="5029200" cy="2377440"/>
          </a:xfrm>
          <a:prstGeom prst="roundRect">
            <a:avLst>
              <a:gd name="adj" fmla="val 3077"/>
            </a:avLst>
          </a:prstGeom>
          <a:solidFill>
            <a:srgbClr val="F6F8FA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583680" y="38862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Issues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583680" y="4297680"/>
            <a:ext cx="4480560" cy="5486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Suivre les tâches, bugs et demandes d'évolution directement depuis GitHub, reliées à des branches et des Pull Requests.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C95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  <p:sp>
        <p:nvSpPr>
          <p:cNvPr id="27" name="Shape 21">
            <a:extLst>
              <a:ext uri="{FF2B5EF4-FFF2-40B4-BE49-F238E27FC236}">
                <a16:creationId xmlns:a16="http://schemas.microsoft.com/office/drawing/2014/main" id="{E32B1FA9-CBC3-CFB8-6699-5140ABA816A1}"/>
              </a:ext>
            </a:extLst>
          </p:cNvPr>
          <p:cNvSpPr/>
          <p:nvPr/>
        </p:nvSpPr>
        <p:spPr>
          <a:xfrm>
            <a:off x="828904" y="3703320"/>
            <a:ext cx="5029200" cy="2377440"/>
          </a:xfrm>
          <a:prstGeom prst="roundRect">
            <a:avLst>
              <a:gd name="adj" fmla="val 3077"/>
            </a:avLst>
          </a:prstGeom>
          <a:solidFill>
            <a:srgbClr val="F6F8FA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28" name="Text 22">
            <a:extLst>
              <a:ext uri="{FF2B5EF4-FFF2-40B4-BE49-F238E27FC236}">
                <a16:creationId xmlns:a16="http://schemas.microsoft.com/office/drawing/2014/main" id="{0A03BCA8-62AD-CC91-4022-3775719A0B71}"/>
              </a:ext>
            </a:extLst>
          </p:cNvPr>
          <p:cNvSpPr txBox="1"/>
          <p:nvPr/>
        </p:nvSpPr>
        <p:spPr>
          <a:xfrm>
            <a:off x="1103224" y="3878263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Request / Merge request</a:t>
            </a:r>
            <a:endParaRPr lang="en-US" sz="1500" dirty="0"/>
          </a:p>
        </p:txBody>
      </p:sp>
      <p:sp>
        <p:nvSpPr>
          <p:cNvPr id="29" name="Text 23">
            <a:extLst>
              <a:ext uri="{FF2B5EF4-FFF2-40B4-BE49-F238E27FC236}">
                <a16:creationId xmlns:a16="http://schemas.microsoft.com/office/drawing/2014/main" id="{F1E3795F-E3A1-7365-ED68-43FE33BE3001}"/>
              </a:ext>
            </a:extLst>
          </p:cNvPr>
          <p:cNvSpPr txBox="1"/>
          <p:nvPr/>
        </p:nvSpPr>
        <p:spPr>
          <a:xfrm>
            <a:off x="1081296" y="4297680"/>
            <a:ext cx="4480560" cy="5486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</a:t>
            </a:r>
            <a:r>
              <a:rPr lang="en-US" sz="1250" dirty="0" err="1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demande</a:t>
            </a:r>
            <a:r>
              <a:rPr lang="en-US" sz="125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à </a:t>
            </a:r>
            <a:r>
              <a:rPr lang="en-US" sz="1250" dirty="0" err="1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</a:t>
            </a:r>
            <a:r>
              <a:rPr lang="en-US" sz="125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qu’une</a:t>
            </a:r>
            <a:r>
              <a:rPr lang="en-US" sz="125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branche</a:t>
            </a:r>
            <a:r>
              <a:rPr lang="en-US" sz="125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soit</a:t>
            </a:r>
            <a:r>
              <a:rPr lang="en-US" sz="125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incorporée</a:t>
            </a:r>
            <a:r>
              <a:rPr lang="en-US" sz="125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dans main ; </a:t>
            </a:r>
            <a:r>
              <a:rPr lang="en-US" sz="1250" dirty="0" err="1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c’est</a:t>
            </a:r>
            <a:r>
              <a:rPr lang="en-US" sz="125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</a:t>
            </a:r>
            <a:r>
              <a:rPr lang="en-US" sz="125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étape de validation du travail.</a:t>
            </a:r>
            <a:endParaRPr lang="en-US" sz="12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331720"/>
            <a:ext cx="2103120" cy="2103120"/>
          </a:xfrm>
          <a:prstGeom prst="ellipse">
            <a:avLst/>
          </a:prstGeom>
          <a:solidFill>
            <a:srgbClr val="161B22"/>
          </a:solidFill>
          <a:ln w="25400">
            <a:solidFill>
              <a:srgbClr val="F051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2331720"/>
            <a:ext cx="21031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F051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3383280" y="2651760"/>
            <a:ext cx="8138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RStudio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3383280" y="361188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Retrouver les mêmes opérations Git, depuis son environnement de travail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05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AUTHENTIFICATION</a:t>
            </a:r>
            <a:endParaRPr lang="en-US" sz="1200" dirty="0">
              <a:solidFill>
                <a:srgbClr val="F05133"/>
              </a:solidFill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429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S'authentifier avec un jeton (PAT)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02920" cy="41148"/>
          </a:xfrm>
          <a:prstGeom prst="rect">
            <a:avLst/>
          </a:prstGeom>
          <a:solidFill>
            <a:srgbClr val="F05133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82880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Depuis 2021, GitHub n'accepte plus les mots de passe classiques en HTTPS — il faut un Personal Access Token (PAT).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468880"/>
            <a:ext cx="384048" cy="384048"/>
          </a:xfrm>
          <a:prstGeom prst="ellipse">
            <a:avLst/>
          </a:prstGeom>
          <a:solidFill>
            <a:srgbClr val="F05133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24780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2487168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connecter sur github.com → avatar → Settings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3035808"/>
            <a:ext cx="384048" cy="384048"/>
          </a:xfrm>
          <a:prstGeom prst="ellipse">
            <a:avLst/>
          </a:prstGeom>
          <a:solidFill>
            <a:srgbClr val="F05133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30449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3054096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settings → Personal access tokens → Tokens (classic)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3602736"/>
            <a:ext cx="384048" cy="384048"/>
          </a:xfrm>
          <a:prstGeom prst="ellipse">
            <a:avLst/>
          </a:prstGeom>
          <a:solidFill>
            <a:srgbClr val="F05133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3621024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new token (classic)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4169664"/>
            <a:ext cx="384048" cy="384048"/>
          </a:xfrm>
          <a:prstGeom prst="ellipse">
            <a:avLst/>
          </a:prstGeom>
          <a:solidFill>
            <a:srgbClr val="F0513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4178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188720" y="4187952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 explicite, date d'expiration, scope "repo"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40080" y="4736592"/>
            <a:ext cx="384048" cy="384048"/>
          </a:xfrm>
          <a:prstGeom prst="ellipse">
            <a:avLst/>
          </a:prstGeom>
          <a:solidFill>
            <a:srgbClr val="F05133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40080" y="47457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188720" y="475488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token → copier immédiatement le jeton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315200" y="2468880"/>
            <a:ext cx="4206240" cy="3108960"/>
          </a:xfrm>
          <a:prstGeom prst="roundRect">
            <a:avLst>
              <a:gd name="adj" fmla="val 2353"/>
            </a:avLst>
          </a:prstGeom>
          <a:solidFill>
            <a:srgbClr val="0D1117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589520" y="26974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05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/!\ Le jeton ne sera plus jamais affiché après sa création.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7589520" y="3474720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remplace le mot de passe lors d'un push/pull en HTTPS. Un gestionnaire d'identifiants permet de l'enregistrer une seule fois.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C95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05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INTÉGRATION GRAPHIQUE</a:t>
            </a:r>
            <a:endParaRPr lang="en-US" sz="1200" dirty="0">
              <a:solidFill>
                <a:srgbClr val="F05133"/>
              </a:solidFill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429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 dans RStudio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02920" cy="41148"/>
          </a:xfrm>
          <a:prstGeom prst="rect">
            <a:avLst/>
          </a:prstGeom>
          <a:solidFill>
            <a:srgbClr val="F05133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1965960"/>
            <a:ext cx="5029200" cy="3931920"/>
          </a:xfrm>
          <a:prstGeom prst="roundRect">
            <a:avLst>
              <a:gd name="adj" fmla="val 1860"/>
            </a:avLst>
          </a:prstGeom>
          <a:solidFill>
            <a:srgbClr val="F6F8FA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21945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05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RStudio</a:t>
            </a:r>
            <a:endParaRPr lang="en-US" sz="1600" dirty="0">
              <a:solidFill>
                <a:srgbClr val="F05133"/>
              </a:solidFill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914400" y="2697480"/>
            <a:ext cx="44805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Connecter RStudio à Git (Tools &gt; Global Options)</a:t>
            </a:r>
            <a:endParaRPr lang="en-US" sz="135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S'authentifier avec le PAT : gitcreds::gitcreds_set()</a:t>
            </a:r>
            <a:endParaRPr lang="en-US" sz="135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&gt; New Project &gt; Version Control &gt; Git</a:t>
            </a:r>
            <a:endParaRPr lang="en-US" sz="135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24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Onglet Git : statut, commit, pull/push, branches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C95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  <p:sp>
        <p:nvSpPr>
          <p:cNvPr id="12" name="Shape 5">
            <a:extLst>
              <a:ext uri="{FF2B5EF4-FFF2-40B4-BE49-F238E27FC236}">
                <a16:creationId xmlns:a16="http://schemas.microsoft.com/office/drawing/2014/main" id="{7B7067EC-DFA9-4EAA-6B57-3EAD86A51060}"/>
              </a:ext>
            </a:extLst>
          </p:cNvPr>
          <p:cNvSpPr/>
          <p:nvPr/>
        </p:nvSpPr>
        <p:spPr>
          <a:xfrm>
            <a:off x="6096000" y="1965960"/>
            <a:ext cx="5029200" cy="3931920"/>
          </a:xfrm>
          <a:prstGeom prst="roundRect">
            <a:avLst>
              <a:gd name="adj" fmla="val 1818"/>
            </a:avLst>
          </a:prstGeom>
          <a:solidFill>
            <a:srgbClr val="161B22"/>
          </a:solidFill>
          <a:ln/>
        </p:spPr>
      </p:sp>
      <p:sp>
        <p:nvSpPr>
          <p:cNvPr id="13" name="Text 6">
            <a:extLst>
              <a:ext uri="{FF2B5EF4-FFF2-40B4-BE49-F238E27FC236}">
                <a16:creationId xmlns:a16="http://schemas.microsoft.com/office/drawing/2014/main" id="{1B22A4DD-7888-2CDA-AEE1-F5333D22CBAA}"/>
              </a:ext>
            </a:extLst>
          </p:cNvPr>
          <p:cNvSpPr txBox="1"/>
          <p:nvPr/>
        </p:nvSpPr>
        <p:spPr>
          <a:xfrm>
            <a:off x="1127760" y="4411578"/>
            <a:ext cx="4023360" cy="11388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endParaRPr lang="en-US" sz="1300" dirty="0"/>
          </a:p>
        </p:txBody>
      </p:sp>
      <p:sp>
        <p:nvSpPr>
          <p:cNvPr id="17" name="Text 6">
            <a:extLst>
              <a:ext uri="{FF2B5EF4-FFF2-40B4-BE49-F238E27FC236}">
                <a16:creationId xmlns:a16="http://schemas.microsoft.com/office/drawing/2014/main" id="{72738B09-6ACC-E4C5-3C43-D4C9B3725EB0}"/>
              </a:ext>
            </a:extLst>
          </p:cNvPr>
          <p:cNvSpPr txBox="1"/>
          <p:nvPr/>
        </p:nvSpPr>
        <p:spPr>
          <a:xfrm>
            <a:off x="6333422" y="2194561"/>
            <a:ext cx="4535103" cy="33558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25000"/>
              </a:lnSpc>
            </a:pPr>
            <a:r>
              <a:rPr lang="fr-FR" altLang="fr-FR" sz="1300" dirty="0" err="1">
                <a:solidFill>
                  <a:srgbClr val="C9D1D9"/>
                </a:solidFill>
                <a:latin typeface="Courier New" pitchFamily="34" charset="0"/>
                <a:cs typeface="Courier New" pitchFamily="34" charset="-120"/>
              </a:rPr>
              <a:t>library</a:t>
            </a:r>
            <a:r>
              <a:rPr lang="fr-FR" altLang="fr-FR" sz="1300" dirty="0">
                <a:solidFill>
                  <a:srgbClr val="C9D1D9"/>
                </a:solidFill>
                <a:latin typeface="Courier New" pitchFamily="34" charset="0"/>
                <a:cs typeface="Courier New" pitchFamily="34" charset="-120"/>
              </a:rPr>
              <a:t>("</a:t>
            </a:r>
            <a:r>
              <a:rPr lang="fr-FR" altLang="fr-FR" sz="1300" dirty="0" err="1">
                <a:solidFill>
                  <a:srgbClr val="C9D1D9"/>
                </a:solidFill>
                <a:latin typeface="Courier New" pitchFamily="34" charset="0"/>
                <a:cs typeface="Courier New" pitchFamily="34" charset="-120"/>
              </a:rPr>
              <a:t>usethis</a:t>
            </a:r>
            <a:r>
              <a:rPr lang="fr-FR" altLang="fr-FR" sz="1300" dirty="0">
                <a:solidFill>
                  <a:srgbClr val="C9D1D9"/>
                </a:solidFill>
                <a:latin typeface="Courier New" pitchFamily="34" charset="0"/>
                <a:cs typeface="Courier New" pitchFamily="34" charset="-120"/>
              </a:rPr>
              <a:t>")</a:t>
            </a:r>
          </a:p>
          <a:p>
            <a:pPr>
              <a:lnSpc>
                <a:spcPct val="125000"/>
              </a:lnSpc>
            </a:pPr>
            <a:r>
              <a:rPr lang="fr-FR" altLang="fr-FR" sz="1300" dirty="0" err="1">
                <a:solidFill>
                  <a:srgbClr val="C9D1D9"/>
                </a:solidFill>
                <a:latin typeface="Courier New" pitchFamily="34" charset="0"/>
                <a:cs typeface="Courier New" pitchFamily="34" charset="-120"/>
              </a:rPr>
              <a:t>use_git</a:t>
            </a:r>
            <a:r>
              <a:rPr lang="fr-FR" altLang="fr-FR" sz="1300" dirty="0">
                <a:solidFill>
                  <a:srgbClr val="C9D1D9"/>
                </a:solidFill>
                <a:latin typeface="Courier New" pitchFamily="34" charset="0"/>
                <a:cs typeface="Courier New" pitchFamily="34" charset="-120"/>
              </a:rPr>
              <a:t>() # uniquement si dossier </a:t>
            </a:r>
            <a:r>
              <a:rPr lang="fr-FR" altLang="fr-FR" sz="1300" dirty="0" err="1">
                <a:solidFill>
                  <a:srgbClr val="C9D1D9"/>
                </a:solidFill>
                <a:latin typeface="Courier New" pitchFamily="34" charset="0"/>
                <a:cs typeface="Courier New" pitchFamily="34" charset="-120"/>
              </a:rPr>
              <a:t>non-git</a:t>
            </a:r>
            <a:endParaRPr lang="fr-FR" altLang="fr-FR" sz="1300" dirty="0">
              <a:solidFill>
                <a:srgbClr val="C9D1D9"/>
              </a:solidFill>
              <a:latin typeface="Courier New" pitchFamily="34" charset="0"/>
              <a:cs typeface="Courier New" pitchFamily="34" charset="-120"/>
            </a:endParaRPr>
          </a:p>
          <a:p>
            <a:pPr>
              <a:lnSpc>
                <a:spcPct val="125000"/>
              </a:lnSpc>
            </a:pPr>
            <a:endParaRPr lang="fr-FR" altLang="fr-FR" sz="1300" dirty="0">
              <a:solidFill>
                <a:srgbClr val="C9D1D9"/>
              </a:solidFill>
              <a:latin typeface="Courier New" pitchFamily="34" charset="0"/>
              <a:cs typeface="Courier New" pitchFamily="34" charset="-120"/>
            </a:endParaRPr>
          </a:p>
          <a:p>
            <a:pPr>
              <a:lnSpc>
                <a:spcPct val="125000"/>
              </a:lnSpc>
            </a:pPr>
            <a:r>
              <a:rPr lang="fr-FR" altLang="fr-FR" sz="1300" dirty="0" err="1">
                <a:solidFill>
                  <a:srgbClr val="C9D1D9"/>
                </a:solidFill>
                <a:latin typeface="Courier New" pitchFamily="34" charset="0"/>
                <a:cs typeface="Courier New" pitchFamily="34" charset="-120"/>
              </a:rPr>
              <a:t>use_git_config</a:t>
            </a:r>
            <a:r>
              <a:rPr lang="fr-FR" altLang="fr-FR" sz="1300" dirty="0">
                <a:solidFill>
                  <a:srgbClr val="C9D1D9"/>
                </a:solidFill>
                <a:latin typeface="Courier New" pitchFamily="34" charset="0"/>
                <a:cs typeface="Courier New" pitchFamily="34" charset="-120"/>
              </a:rPr>
              <a:t>(</a:t>
            </a:r>
          </a:p>
          <a:p>
            <a:pPr>
              <a:lnSpc>
                <a:spcPct val="125000"/>
              </a:lnSpc>
            </a:pPr>
            <a:r>
              <a:rPr lang="fr-FR" altLang="fr-FR" sz="1300" dirty="0">
                <a:solidFill>
                  <a:srgbClr val="C9D1D9"/>
                </a:solidFill>
                <a:latin typeface="Courier New" pitchFamily="34" charset="0"/>
                <a:cs typeface="Courier New" pitchFamily="34" charset="-120"/>
              </a:rPr>
              <a:t>  user.name = &lt;Nom prénom&gt;, </a:t>
            </a:r>
          </a:p>
          <a:p>
            <a:pPr>
              <a:lnSpc>
                <a:spcPct val="125000"/>
              </a:lnSpc>
            </a:pPr>
            <a:r>
              <a:rPr lang="fr-FR" altLang="fr-FR" sz="1300" dirty="0">
                <a:solidFill>
                  <a:srgbClr val="C9D1D9"/>
                </a:solidFill>
                <a:latin typeface="Courier New" pitchFamily="34" charset="0"/>
                <a:cs typeface="Courier New" pitchFamily="34" charset="-120"/>
              </a:rPr>
              <a:t>  </a:t>
            </a:r>
            <a:r>
              <a:rPr lang="fr-FR" altLang="fr-FR" sz="1300" dirty="0" err="1">
                <a:solidFill>
                  <a:srgbClr val="C9D1D9"/>
                </a:solidFill>
                <a:latin typeface="Courier New" pitchFamily="34" charset="0"/>
                <a:cs typeface="Courier New" pitchFamily="34" charset="-120"/>
              </a:rPr>
              <a:t>user.email</a:t>
            </a:r>
            <a:r>
              <a:rPr lang="fr-FR" altLang="fr-FR" sz="1300" dirty="0">
                <a:solidFill>
                  <a:srgbClr val="C9D1D9"/>
                </a:solidFill>
                <a:latin typeface="Courier New" pitchFamily="34" charset="0"/>
                <a:cs typeface="Courier New" pitchFamily="34" charset="-120"/>
              </a:rPr>
              <a:t> = &lt;mail </a:t>
            </a:r>
            <a:r>
              <a:rPr lang="fr-FR" altLang="fr-FR" sz="1300" dirty="0" err="1">
                <a:solidFill>
                  <a:srgbClr val="C9D1D9"/>
                </a:solidFill>
                <a:latin typeface="Courier New" pitchFamily="34" charset="0"/>
                <a:cs typeface="Courier New" pitchFamily="34" charset="-120"/>
              </a:rPr>
              <a:t>github</a:t>
            </a:r>
            <a:r>
              <a:rPr lang="fr-FR" altLang="fr-FR" sz="1300" dirty="0">
                <a:solidFill>
                  <a:srgbClr val="C9D1D9"/>
                </a:solidFill>
                <a:latin typeface="Courier New" pitchFamily="34" charset="0"/>
                <a:cs typeface="Courier New" pitchFamily="34" charset="-120"/>
              </a:rPr>
              <a:t>&gt;</a:t>
            </a:r>
          </a:p>
          <a:p>
            <a:pPr>
              <a:lnSpc>
                <a:spcPct val="125000"/>
              </a:lnSpc>
            </a:pPr>
            <a:r>
              <a:rPr lang="fr-FR" altLang="fr-FR" sz="1300" dirty="0">
                <a:solidFill>
                  <a:srgbClr val="C9D1D9"/>
                </a:solidFill>
                <a:latin typeface="Courier New" pitchFamily="34" charset="0"/>
                <a:cs typeface="Courier New" pitchFamily="34" charset="-120"/>
              </a:rPr>
              <a:t>)</a:t>
            </a:r>
          </a:p>
          <a:p>
            <a:pPr>
              <a:lnSpc>
                <a:spcPct val="125000"/>
              </a:lnSpc>
            </a:pPr>
            <a:endParaRPr lang="fr-FR" altLang="fr-FR" sz="1300" dirty="0">
              <a:solidFill>
                <a:srgbClr val="C9D1D9"/>
              </a:solidFill>
              <a:latin typeface="Courier New" pitchFamily="34" charset="0"/>
              <a:cs typeface="Courier New" pitchFamily="34" charset="-120"/>
            </a:endParaRPr>
          </a:p>
          <a:p>
            <a:pPr>
              <a:lnSpc>
                <a:spcPct val="125000"/>
              </a:lnSpc>
            </a:pPr>
            <a:r>
              <a:rPr lang="fr-FR" altLang="fr-FR" sz="1300" dirty="0" err="1">
                <a:solidFill>
                  <a:srgbClr val="C9D1D9"/>
                </a:solidFill>
                <a:latin typeface="Courier New" pitchFamily="34" charset="0"/>
                <a:cs typeface="Courier New" pitchFamily="34" charset="-120"/>
              </a:rPr>
              <a:t>create_github_token</a:t>
            </a:r>
            <a:r>
              <a:rPr lang="fr-FR" altLang="fr-FR" sz="1300" dirty="0">
                <a:solidFill>
                  <a:srgbClr val="C9D1D9"/>
                </a:solidFill>
                <a:latin typeface="Courier New" pitchFamily="34" charset="0"/>
                <a:cs typeface="Courier New" pitchFamily="34" charset="-120"/>
              </a:rPr>
              <a:t>() # Créer un PAT</a:t>
            </a:r>
          </a:p>
          <a:p>
            <a:pPr>
              <a:lnSpc>
                <a:spcPct val="125000"/>
              </a:lnSpc>
            </a:pPr>
            <a:r>
              <a:rPr lang="fr-FR" altLang="fr-FR" sz="1300" dirty="0" err="1">
                <a:solidFill>
                  <a:srgbClr val="C9D1D9"/>
                </a:solidFill>
                <a:latin typeface="Courier New" pitchFamily="34" charset="0"/>
                <a:cs typeface="Courier New" pitchFamily="34" charset="-120"/>
              </a:rPr>
              <a:t>gitcreds_set</a:t>
            </a:r>
            <a:r>
              <a:rPr lang="fr-FR" altLang="fr-FR" sz="1300" dirty="0">
                <a:solidFill>
                  <a:srgbClr val="C9D1D9"/>
                </a:solidFill>
                <a:latin typeface="Courier New" pitchFamily="34" charset="0"/>
                <a:cs typeface="Courier New" pitchFamily="34" charset="-120"/>
              </a:rPr>
              <a:t>() # Entrer le PAT </a:t>
            </a:r>
          </a:p>
          <a:p>
            <a:pPr>
              <a:lnSpc>
                <a:spcPct val="125000"/>
              </a:lnSpc>
            </a:pPr>
            <a:endParaRPr lang="fr-FR" altLang="fr-FR" sz="1300" dirty="0">
              <a:solidFill>
                <a:srgbClr val="C9D1D9"/>
              </a:solidFill>
              <a:latin typeface="Courier New" pitchFamily="34" charset="0"/>
              <a:cs typeface="Courier New" pitchFamily="34" charset="-120"/>
            </a:endParaRPr>
          </a:p>
          <a:p>
            <a:pPr>
              <a:lnSpc>
                <a:spcPct val="125000"/>
              </a:lnSpc>
            </a:pPr>
            <a:r>
              <a:rPr lang="fr-FR" altLang="fr-FR" sz="1300" dirty="0" err="1">
                <a:solidFill>
                  <a:srgbClr val="C9D1D9"/>
                </a:solidFill>
                <a:latin typeface="Courier New" pitchFamily="34" charset="0"/>
                <a:cs typeface="Courier New" pitchFamily="34" charset="-120"/>
              </a:rPr>
              <a:t>git_sitrep</a:t>
            </a:r>
            <a:r>
              <a:rPr lang="fr-FR" altLang="fr-FR" sz="1300" dirty="0">
                <a:solidFill>
                  <a:srgbClr val="C9D1D9"/>
                </a:solidFill>
                <a:latin typeface="Courier New" pitchFamily="34" charset="0"/>
                <a:cs typeface="Courier New" pitchFamily="34" charset="-120"/>
              </a:rPr>
              <a:t>() # Vérifier la config</a:t>
            </a:r>
          </a:p>
          <a:p>
            <a:pPr>
              <a:lnSpc>
                <a:spcPct val="125000"/>
              </a:lnSpc>
            </a:pPr>
            <a:endParaRPr lang="fr-FR" altLang="fr-FR" sz="1300" dirty="0">
              <a:solidFill>
                <a:srgbClr val="C9D1D9"/>
              </a:solidFill>
              <a:latin typeface="Courier New" pitchFamily="34" charset="0"/>
              <a:cs typeface="Courier New" pitchFamily="34" charset="-120"/>
            </a:endParaRPr>
          </a:p>
        </p:txBody>
      </p:sp>
      <p:sp>
        <p:nvSpPr>
          <p:cNvPr id="18" name="Rectangle 4">
            <a:extLst>
              <a:ext uri="{FF2B5EF4-FFF2-40B4-BE49-F238E27FC236}">
                <a16:creationId xmlns:a16="http://schemas.microsoft.com/office/drawing/2014/main" id="{98A5D342-C209-2E29-CCF3-12108C4397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1255"/>
            <a:ext cx="65" cy="334689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57132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9" name="Rectangle 5">
            <a:extLst>
              <a:ext uri="{FF2B5EF4-FFF2-40B4-BE49-F238E27FC236}">
                <a16:creationId xmlns:a16="http://schemas.microsoft.com/office/drawing/2014/main" id="{54B56E98-6A07-FE7B-8AA5-DFA08730066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1255"/>
            <a:ext cx="65" cy="334689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57132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6">
            <a:extLst>
              <a:ext uri="{FF2B5EF4-FFF2-40B4-BE49-F238E27FC236}">
                <a16:creationId xmlns:a16="http://schemas.microsoft.com/office/drawing/2014/main" id="{A0EC09E4-B64C-D6C3-29B4-42D0C22753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1255"/>
            <a:ext cx="65" cy="334689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57132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2" name="Rectangle 8">
            <a:extLst>
              <a:ext uri="{FF2B5EF4-FFF2-40B4-BE49-F238E27FC236}">
                <a16:creationId xmlns:a16="http://schemas.microsoft.com/office/drawing/2014/main" id="{F495FF5B-B8FA-E623-D669-383C592DC4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" y="242500"/>
            <a:ext cx="65" cy="276999"/>
          </a:xfrm>
          <a:prstGeom prst="rect">
            <a:avLst/>
          </a:prstGeom>
          <a:solidFill>
            <a:srgbClr val="282A36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cycle complet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28904" y="2194560"/>
            <a:ext cx="1572768" cy="1051560"/>
          </a:xfrm>
          <a:prstGeom prst="roundRect">
            <a:avLst>
              <a:gd name="adj" fmla="val 6957"/>
            </a:avLst>
          </a:prstGeom>
          <a:solidFill>
            <a:srgbClr val="161B22"/>
          </a:solidFill>
          <a:ln w="19050">
            <a:solidFill>
              <a:srgbClr val="F0513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8904" y="2194560"/>
            <a:ext cx="15727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Organiser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2429104" y="2715768"/>
            <a:ext cx="164592" cy="0"/>
          </a:xfrm>
          <a:prstGeom prst="line">
            <a:avLst/>
          </a:prstGeom>
          <a:noFill/>
          <a:ln w="25400">
            <a:solidFill>
              <a:srgbClr val="6E7681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2621128" y="2194560"/>
            <a:ext cx="1572768" cy="1051560"/>
          </a:xfrm>
          <a:prstGeom prst="roundRect">
            <a:avLst>
              <a:gd name="adj" fmla="val 6957"/>
            </a:avLst>
          </a:prstGeom>
          <a:solidFill>
            <a:srgbClr val="161B22"/>
          </a:solidFill>
          <a:ln w="19050">
            <a:solidFill>
              <a:srgbClr val="F051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621128" y="2180845"/>
            <a:ext cx="15727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 / clone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221328" y="2715768"/>
            <a:ext cx="164592" cy="0"/>
          </a:xfrm>
          <a:prstGeom prst="line">
            <a:avLst/>
          </a:prstGeom>
          <a:noFill/>
          <a:ln w="25400">
            <a:solidFill>
              <a:srgbClr val="6E7681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4413352" y="2194560"/>
            <a:ext cx="1572768" cy="1051560"/>
          </a:xfrm>
          <a:prstGeom prst="roundRect">
            <a:avLst>
              <a:gd name="adj" fmla="val 6957"/>
            </a:avLst>
          </a:prstGeom>
          <a:solidFill>
            <a:srgbClr val="161B22"/>
          </a:solidFill>
          <a:ln w="19050">
            <a:solidFill>
              <a:srgbClr val="F051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413352" y="2194560"/>
            <a:ext cx="15727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· commit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013552" y="2715768"/>
            <a:ext cx="164592" cy="0"/>
          </a:xfrm>
          <a:prstGeom prst="line">
            <a:avLst/>
          </a:prstGeom>
          <a:noFill/>
          <a:ln w="25400">
            <a:solidFill>
              <a:srgbClr val="6E7681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6205576" y="2194560"/>
            <a:ext cx="1572768" cy="1051560"/>
          </a:xfrm>
          <a:prstGeom prst="roundRect">
            <a:avLst>
              <a:gd name="adj" fmla="val 6957"/>
            </a:avLst>
          </a:prstGeom>
          <a:solidFill>
            <a:srgbClr val="161B22"/>
          </a:solidFill>
          <a:ln w="19050">
            <a:solidFill>
              <a:srgbClr val="F051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05576" y="2180845"/>
            <a:ext cx="15727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 · merge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805776" y="2715768"/>
            <a:ext cx="164592" cy="0"/>
          </a:xfrm>
          <a:prstGeom prst="line">
            <a:avLst/>
          </a:prstGeom>
          <a:noFill/>
          <a:ln w="25400">
            <a:solidFill>
              <a:srgbClr val="6E7681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997800" y="2194560"/>
            <a:ext cx="1572768" cy="1051560"/>
          </a:xfrm>
          <a:prstGeom prst="roundRect">
            <a:avLst>
              <a:gd name="adj" fmla="val 6957"/>
            </a:avLst>
          </a:prstGeom>
          <a:solidFill>
            <a:srgbClr val="161B22"/>
          </a:solidFill>
          <a:ln w="19050">
            <a:solidFill>
              <a:srgbClr val="F051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997800" y="2194560"/>
            <a:ext cx="15727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/ pull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9598000" y="2715768"/>
            <a:ext cx="164592" cy="0"/>
          </a:xfrm>
          <a:prstGeom prst="line">
            <a:avLst/>
          </a:prstGeom>
          <a:noFill/>
          <a:ln w="25400">
            <a:solidFill>
              <a:srgbClr val="6E7681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9790024" y="2194560"/>
            <a:ext cx="1572768" cy="1051560"/>
          </a:xfrm>
          <a:prstGeom prst="roundRect">
            <a:avLst>
              <a:gd name="adj" fmla="val 6957"/>
            </a:avLst>
          </a:prstGeom>
          <a:solidFill>
            <a:srgbClr val="161B22"/>
          </a:solidFill>
          <a:ln w="19050">
            <a:solidFill>
              <a:srgbClr val="F0513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790024" y="2180845"/>
            <a:ext cx="15727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Request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37490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Organiser  →  Versionner en local  →  Collaborer via des branches  →  Synchroniser avec GitHub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46634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05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Ressources</a:t>
            </a:r>
            <a:endParaRPr lang="en-US" sz="1400" dirty="0">
              <a:solidFill>
                <a:srgbClr val="F05133"/>
              </a:solidFill>
            </a:endParaRPr>
          </a:p>
        </p:txBody>
      </p:sp>
      <p:sp>
        <p:nvSpPr>
          <p:cNvPr id="22" name="Text 20"/>
          <p:cNvSpPr txBox="1"/>
          <p:nvPr/>
        </p:nvSpPr>
        <p:spPr>
          <a:xfrm>
            <a:off x="640080" y="5074920"/>
            <a:ext cx="10058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git-scm.com/install — installation de Git</a:t>
            </a:r>
            <a:endParaRPr lang="en-US" sz="13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github.com/github/gitignore — modèles de .</a:t>
            </a:r>
            <a:r>
              <a:rPr lang="en-US" sz="1300" dirty="0" err="1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gitignore</a:t>
            </a:r>
            <a:endParaRPr lang="en-US" sz="1300" dirty="0">
              <a:solidFill>
                <a:srgbClr val="C9D1D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23" name="Text 21"/>
          <p:cNvSpPr txBox="1"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264</TotalTime>
  <Words>1632</Words>
  <Application>Microsoft Office PowerPoint</Application>
  <PresentationFormat>Grand écran</PresentationFormat>
  <Paragraphs>368</Paragraphs>
  <Slides>28</Slides>
  <Notes>28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28</vt:i4>
      </vt:variant>
    </vt:vector>
  </HeadingPairs>
  <TitlesOfParts>
    <vt:vector size="33" baseType="lpstr">
      <vt:lpstr>Arial</vt:lpstr>
      <vt:lpstr>Calibri</vt:lpstr>
      <vt:lpstr>Cambria</vt:lpstr>
      <vt:lpstr>Courier New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Yvan Boiteau</cp:lastModifiedBy>
  <cp:revision>7</cp:revision>
  <dcterms:created xsi:type="dcterms:W3CDTF">2026-09-18T05:58:19Z</dcterms:created>
  <dcterms:modified xsi:type="dcterms:W3CDTF">2026-09-25T07:04:24Z</dcterms:modified>
</cp:coreProperties>
</file>